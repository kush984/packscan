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solidFill>
            <a:srgbClr val="0F2D25"/>
          </a:solidFill>
          <a:ln w="12700">
            <a:solidFill>
              <a:srgbClr val="1E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/>
          <a:lstStyle/>
          <a:p>
            <a:pPr algn="ctr"/>
            <a:r>
              <a:rPr sz="1000" b="1">
                <a:solidFill>
                  <a:srgbClr val="10B981"/>
                </a:solidFill>
                <a:latin typeface="JetBrains Mono"/>
              </a:rPr>
              <a:t>• SIH 2026 GRAND FINALE • PROBLEM STATEMENT SIH26034  </a:t>
            </a:r>
            <a:r>
              <a:rPr sz="1000">
                <a:solidFill>
                  <a:srgbClr val="758A82"/>
                </a:solidFill>
                <a:latin typeface="JetBrains Mono"/>
              </a:rPr>
              <a:t>|  PACKSCAN REGULATORY ENGINE  |  OFFICIAL SIH 2026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/>
          <a:lstStyle/>
          <a:p>
            <a:pPr algn="ctr"/>
            <a:r>
              <a:rPr sz="2000" b="1">
                <a:solidFill>
                  <a:srgbClr val="F4F3EE"/>
                </a:solidFill>
                <a:latin typeface="Space Grotesk"/>
              </a:rPr>
              <a:t>PACKSCAN: Autonomous Dual-Framework Metrology &amp; Consumer Safety Engine</a:t>
            </a:r>
          </a:p>
          <a:p>
            <a:pPr>
              <a:spcBef>
                <a:spcPts val="200"/>
              </a:spcBef>
            </a:pPr>
            <a:r>
              <a:rPr sz="1100" i="1">
                <a:solidFill>
                  <a:srgbClr val="BAC5BF"/>
                </a:solidFill>
                <a:latin typeface="Inter"/>
              </a:rPr>
              <a:t>A Sovereign Edge-AI System for Enforcing Legal Metrology Rules, 2011 &amp; FSSAI Regulations, 2020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/>
          <a:lstStyle/>
          <a:p>
            <a:pPr algn="ctr"/>
            <a:r>
              <a:rPr sz="950">
                <a:solidFill>
                  <a:srgbClr val="758A82"/>
                </a:solidFill>
                <a:latin typeface="JetBrains Mono"/>
              </a:rPr>
              <a:t>SMART INDIA HACKATHON 2026  •  PROBLEM STATEMENT: SIH26034  •  MINISTRY OF CONSUMER AFFAIRS &amp; FSSAI</a:t>
            </a:r>
            <a:r>
              <a:rPr sz="950" b="1">
                <a:solidFill>
                  <a:srgbClr val="10B981"/>
                </a:solidFill>
                <a:latin typeface="JetBrains Mono"/>
              </a:rPr>
              <a:t>            [ SLIDE 01 / 06 ]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4389120" cy="4572000"/>
          </a:xfrm>
          <a:prstGeom prst="rect">
            <a:avLst/>
          </a:prstGeom>
          <a:solidFill>
            <a:srgbClr val="081B16"/>
          </a:solidFill>
          <a:ln w="19050">
            <a:solidFill>
              <a:srgbClr val="B85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/>
            <a:r>
              <a:rPr sz="1100" b="1">
                <a:solidFill>
                  <a:srgbClr val="B8532F"/>
                </a:solidFill>
                <a:latin typeface="JetBrains Mono"/>
              </a:rPr>
              <a:t>CRITICAL REGULATORY FAILURE</a:t>
            </a:r>
          </a:p>
          <a:p>
            <a:pPr>
              <a:spcBef>
                <a:spcPts val="800"/>
              </a:spcBef>
            </a:pPr>
            <a:r>
              <a:rPr sz="4600" b="1">
                <a:solidFill>
                  <a:srgbClr val="F4F3EE"/>
                </a:solidFill>
                <a:latin typeface="Space Grotesk"/>
              </a:rPr>
              <a:t>84.2%</a:t>
            </a:r>
          </a:p>
          <a:p>
            <a:r>
              <a:rPr sz="1300" b="1">
                <a:solidFill>
                  <a:srgbClr val="D97706"/>
                </a:solidFill>
                <a:latin typeface="Space Grotesk"/>
              </a:rPr>
              <a:t>Retail Packaging Non-Compliance Rate</a:t>
            </a:r>
          </a:p>
          <a:p>
            <a:pPr>
              <a:spcBef>
                <a:spcPts val="1200"/>
              </a:spcBef>
            </a:pPr>
            <a:r>
              <a:rPr sz="1100">
                <a:solidFill>
                  <a:srgbClr val="BAC5BF"/>
                </a:solidFill>
                <a:latin typeface="Inter"/>
              </a:rPr>
              <a:t>Across 1,200+ audited FMCG products in Indian retail, 84.2% violate statutory labelling standards through intentional dark patterns: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DC2626"/>
                </a:solidFill>
                <a:latin typeface="JetBrains Mono"/>
              </a:rPr>
              <a:t>• Sub-Millimeter Fonts: </a:t>
            </a:r>
            <a:r>
              <a:rPr sz="1050">
                <a:solidFill>
                  <a:srgbClr val="F4F3EE"/>
                </a:solidFill>
                <a:latin typeface="Inter"/>
              </a:rPr>
              <a:t>Net weight &amp; MRP printed below Rule 9 Table I minimum height thresholds.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DC2626"/>
                </a:solidFill>
                <a:latin typeface="JetBrains Mono"/>
              </a:rPr>
              <a:t>• Missing Declarations: </a:t>
            </a:r>
            <a:r>
              <a:rPr sz="1050">
                <a:solidFill>
                  <a:srgbClr val="F4F3EE"/>
                </a:solidFill>
                <a:latin typeface="Inter"/>
              </a:rPr>
              <a:t>Omission of mandatory Consumer Care email/tel and true Packer identity (Rule 6).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DC2626"/>
                </a:solidFill>
                <a:latin typeface="JetBrains Mono"/>
              </a:rPr>
              <a:t>• Veiled Toxins: </a:t>
            </a:r>
            <a:r>
              <a:rPr sz="1050">
                <a:solidFill>
                  <a:srgbClr val="F4F3EE"/>
                </a:solidFill>
                <a:latin typeface="Inter"/>
              </a:rPr>
              <a:t>Unheralded sugar spikes (maltodextrin, invert syrup) and unflagged allergens.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6360" y="1600200"/>
            <a:ext cx="6473952" cy="1417320"/>
          </a:xfrm>
          <a:prstGeom prst="rect">
            <a:avLst/>
          </a:prstGeom>
          <a:solidFill>
            <a:srgbClr val="081B16"/>
          </a:solidFill>
          <a:ln w="12700">
            <a:solidFill>
              <a:srgbClr val="1E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950" b="1">
                <a:solidFill>
                  <a:srgbClr val="10B981"/>
                </a:solidFill>
                <a:latin typeface="JetBrains Mono"/>
              </a:rPr>
              <a:t>PILLAR 01 • STATUTORY LEGAL METROLOGY ACT, 2009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F4F3EE"/>
                </a:solidFill>
                <a:latin typeface="Space Grotesk"/>
              </a:rPr>
              <a:t>Automated Section 36 Penalty Dossier Generation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BAC5BF"/>
                </a:solidFill>
                <a:latin typeface="Inter"/>
              </a:rPr>
              <a:t>Transforms manual, error-prone field inspections into instant forensic legal reports. Auto-populates Section 36 penalty notices (INR 25,000–50,000) with timestamped, geolocated bounding box evidence.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166360" y="3172968"/>
            <a:ext cx="6473952" cy="1417320"/>
          </a:xfrm>
          <a:prstGeom prst="rect">
            <a:avLst/>
          </a:prstGeom>
          <a:solidFill>
            <a:srgbClr val="081B16"/>
          </a:solidFill>
          <a:ln w="12700">
            <a:solidFill>
              <a:srgbClr val="1E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950" b="1">
                <a:solidFill>
                  <a:srgbClr val="34D399"/>
                </a:solidFill>
                <a:latin typeface="JetBrains Mono"/>
              </a:rPr>
              <a:t>PILLAR 02 • EDGE VISION &amp; GEOMETRIC CALIBRATION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F4F3EE"/>
                </a:solidFill>
                <a:latin typeface="Space Grotesk"/>
              </a:rPr>
              <a:t>100% On-Device Millimeter Font Calibration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BAC5BF"/>
                </a:solidFill>
                <a:latin typeface="Inter"/>
              </a:rPr>
              <a:t>Executes client-side OCR without sending private consumer telemetry to third-party clouds. Implements camera perspective rectification and optical pixel-to-mm mapping against Principal Display Panel area.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4745736"/>
            <a:ext cx="6473952" cy="1417320"/>
          </a:xfrm>
          <a:prstGeom prst="rect">
            <a:avLst/>
          </a:prstGeom>
          <a:solidFill>
            <a:srgbClr val="081B16"/>
          </a:solidFill>
          <a:ln w="12700">
            <a:solidFill>
              <a:srgbClr val="1E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950" b="1">
                <a:solidFill>
                  <a:srgbClr val="D97706"/>
                </a:solidFill>
                <a:latin typeface="JetBrains Mono"/>
              </a:rPr>
              <a:t>PILLAR 03 • FSSAI 2020 &amp; GLOBAL HARMONIZATION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F4F3EE"/>
                </a:solidFill>
                <a:latin typeface="Space Grotesk"/>
              </a:rPr>
              <a:t>Personalized Medical Allergen &amp; Chemical Audit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BAC5BF"/>
                </a:solidFill>
                <a:latin typeface="Inter"/>
              </a:rPr>
              <a:t>Evaluates 8 mandatory FSSAI food allergens and benchmarks harmful food additives against European Food Safety Authority (EFSA) bans (e.g. Titanium Dioxide E171 genotoxicity, Tartrazine hyperactivity).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solidFill>
            <a:srgbClr val="0F2D25"/>
          </a:solidFill>
          <a:ln w="12700">
            <a:solidFill>
              <a:srgbClr val="1E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/>
          <a:lstStyle/>
          <a:p>
            <a:pPr algn="ctr"/>
            <a:r>
              <a:rPr sz="1000" b="1">
                <a:solidFill>
                  <a:srgbClr val="10B981"/>
                </a:solidFill>
                <a:latin typeface="JetBrains Mono"/>
              </a:rPr>
              <a:t>• SIH26034 • PROPOSED SOLUTION &amp; DUAL-RULE INNOVATION  </a:t>
            </a:r>
            <a:r>
              <a:rPr sz="1000">
                <a:solidFill>
                  <a:srgbClr val="758A82"/>
                </a:solidFill>
                <a:latin typeface="JetBrains Mono"/>
              </a:rPr>
              <a:t>|  PACKSCAN REGULATORY ENGINE  |  OFFICIAL SIH 2026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/>
          <a:lstStyle/>
          <a:p>
            <a:pPr algn="ctr"/>
            <a:r>
              <a:rPr sz="2000" b="1">
                <a:solidFill>
                  <a:srgbClr val="F4F3EE"/>
                </a:solidFill>
                <a:latin typeface="Space Grotesk"/>
              </a:rPr>
              <a:t>Dual-Framework Statutory Compliance &amp; Personal Health Safety</a:t>
            </a:r>
          </a:p>
          <a:p>
            <a:pPr>
              <a:spcBef>
                <a:spcPts val="200"/>
              </a:spcBef>
            </a:pPr>
            <a:r>
              <a:rPr sz="1100" i="1">
                <a:solidFill>
                  <a:srgbClr val="BAC5BF"/>
                </a:solidFill>
                <a:latin typeface="Inter"/>
              </a:rPr>
              <a:t>Unifying Metrology Inspection and FSSAI Nutritional Health into a Single 3-Second Edge Scan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/>
          <a:lstStyle/>
          <a:p>
            <a:pPr algn="ctr"/>
            <a:r>
              <a:rPr sz="950">
                <a:solidFill>
                  <a:srgbClr val="758A82"/>
                </a:solidFill>
                <a:latin typeface="JetBrains Mono"/>
              </a:rPr>
              <a:t>SMART INDIA HACKATHON 2026  •  PROBLEM STATEMENT: SIH26034  •  MINISTRY OF CONSUMER AFFAIRS &amp; FSSAI</a:t>
            </a:r>
            <a:r>
              <a:rPr sz="950" b="1">
                <a:solidFill>
                  <a:srgbClr val="10B981"/>
                </a:solidFill>
                <a:latin typeface="JetBrains Mono"/>
              </a:rPr>
              <a:t>            [ SLIDE 02 / 06 ]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5394960" cy="4572000"/>
          </a:xfrm>
          <a:prstGeom prst="rect">
            <a:avLst/>
          </a:prstGeom>
          <a:solidFill>
            <a:srgbClr val="081B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/>
            <a:r>
              <a:rPr sz="1000" b="1">
                <a:solidFill>
                  <a:srgbClr val="10B981"/>
                </a:solidFill>
                <a:latin typeface="JetBrains Mono"/>
              </a:rPr>
              <a:t>STATUTORY FRAMEWORK 01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F4F3EE"/>
                </a:solidFill>
                <a:latin typeface="Space Grotesk"/>
              </a:rPr>
              <a:t>Legal Metrology (PC) Rules, 2011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34D399"/>
                </a:solidFill>
                <a:latin typeface="JetBrains Mono"/>
              </a:rPr>
              <a:t>1. Rule 6(1) Mandatory Declarations Audit: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BAC5BF"/>
                </a:solidFill>
                <a:latin typeface="Inter"/>
              </a:rPr>
              <a:t>• Name &amp; address of Manufacturer / Packer / Importer.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BAC5BF"/>
                </a:solidFill>
                <a:latin typeface="Inter"/>
              </a:rPr>
              <a:t>• Common generic commodity name &amp; Country of Origin.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BAC5BF"/>
                </a:solidFill>
                <a:latin typeface="Inter"/>
              </a:rPr>
              <a:t>• Net Quantity in standard metric units (g, kg, mL, L).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BAC5BF"/>
                </a:solidFill>
                <a:latin typeface="Inter"/>
              </a:rPr>
              <a:t>• Month &amp; Year of manufacture / packing &amp; Best Before date.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BAC5BF"/>
                </a:solidFill>
                <a:latin typeface="Inter"/>
              </a:rPr>
              <a:t>• Maximum Retail Price (MRP) 'inclusive of all taxes'.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BAC5BF"/>
                </a:solidFill>
                <a:latin typeface="Inter"/>
              </a:rPr>
              <a:t>• Consumer Care cell: Phone, email &amp; grievance officer.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34D399"/>
                </a:solidFill>
                <a:latin typeface="JetBrains Mono"/>
              </a:rPr>
              <a:t>2. Rule 9 Table I Minimum Height Verification:</a:t>
            </a:r>
          </a:p>
          <a:p>
            <a:r>
              <a:rPr sz="1000">
                <a:solidFill>
                  <a:srgbClr val="BAC5BF"/>
                </a:solidFill>
                <a:latin typeface="Inter"/>
              </a:rPr>
              <a:t>Dynamically computes Principal Display Panel (PDP) area. Flags fonts below 1.0mm, 2.0mm, 4.0mm, or 6.0mm statutory thresholds using focal pixel-to-mm ratio.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34D399"/>
                </a:solidFill>
                <a:latin typeface="JetBrains Mono"/>
              </a:rPr>
              <a:t>3. Section 36 Penalty Notice Compilation:</a:t>
            </a:r>
          </a:p>
          <a:p>
            <a:r>
              <a:rPr sz="1000">
                <a:solidFill>
                  <a:srgbClr val="BAC5BF"/>
                </a:solidFill>
                <a:latin typeface="Inter"/>
              </a:rPr>
              <a:t>Auto-formats compounding penalty show-cause notices for Legal Metrology Officers under Section 36(1) and 36(2) of the 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00200"/>
            <a:ext cx="5394960" cy="4572000"/>
          </a:xfrm>
          <a:prstGeom prst="rect">
            <a:avLst/>
          </a:prstGeom>
          <a:solidFill>
            <a:srgbClr val="081B1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/>
            <a:r>
              <a:rPr sz="1000" b="1">
                <a:solidFill>
                  <a:srgbClr val="D97706"/>
                </a:solidFill>
                <a:latin typeface="JetBrains Mono"/>
              </a:rPr>
              <a:t>STATUTORY FRAMEWORK 02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F4F3EE"/>
                </a:solidFill>
                <a:latin typeface="Space Grotesk"/>
              </a:rPr>
              <a:t>FSSAI Food Safety Regulations, 2020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D97706"/>
                </a:solidFill>
                <a:latin typeface="JetBrains Mono"/>
              </a:rPr>
              <a:t>1. 8 Mandatory Allergen Class Cross-Checking: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BAC5BF"/>
                </a:solidFill>
                <a:latin typeface="Inter"/>
              </a:rPr>
              <a:t>• Cereals with Gluten, Crustaceans, Fish, Eggs.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BAC5BF"/>
                </a:solidFill>
                <a:latin typeface="Inter"/>
              </a:rPr>
              <a:t>• Peanuts, Soybeans, Milk &amp; Dairy, Tree nuts.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BAC5BF"/>
                </a:solidFill>
                <a:latin typeface="Inter"/>
              </a:rPr>
              <a:t>• Multi-alias synonym parsing (casein, whey, semolina).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D97706"/>
                </a:solidFill>
                <a:latin typeface="JetBrains Mono"/>
              </a:rPr>
              <a:t>2. Clinical Nutrient Profile &amp; % RDA Limits: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BAC5BF"/>
                </a:solidFill>
                <a:latin typeface="Inter"/>
              </a:rPr>
              <a:t>• Added Sugars &gt; 10% total energy (flags hidden dextrin).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BAC5BF"/>
                </a:solidFill>
                <a:latin typeface="Inter"/>
              </a:rPr>
              <a:t>• Saturated Fat &gt; 22g/100g &amp; Sodium &gt; 600mg/100g thresholds.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BAC5BF"/>
                </a:solidFill>
                <a:latin typeface="Inter"/>
              </a:rPr>
              <a:t>• Real-time tailoring to user chronic conditions (Type 2 Diabetes, Hypertension, Celiac, CAD).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D97706"/>
                </a:solidFill>
                <a:latin typeface="JetBrains Mono"/>
              </a:rPr>
              <a:t>3. Cross-Border International Additive Surveillance:</a:t>
            </a:r>
          </a:p>
          <a:p>
            <a:r>
              <a:rPr sz="1000">
                <a:solidFill>
                  <a:srgbClr val="BAC5BF"/>
                </a:solidFill>
                <a:latin typeface="Inter"/>
              </a:rPr>
              <a:t>Flags hazardous additives banned under EFSA (EU) and US FDA rules, eliminating regulatory dumping in domestic consumer food chains.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solidFill>
            <a:srgbClr val="0F2D25"/>
          </a:solidFill>
          <a:ln w="12700">
            <a:solidFill>
              <a:srgbClr val="1E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/>
          <a:lstStyle/>
          <a:p>
            <a:pPr algn="ctr"/>
            <a:r>
              <a:rPr sz="1000" b="1">
                <a:solidFill>
                  <a:srgbClr val="10B981"/>
                </a:solidFill>
                <a:latin typeface="JetBrains Mono"/>
              </a:rPr>
              <a:t>• SIH26034 • TECHNICAL ARCHITECTURE &amp; PIPELINE  </a:t>
            </a:r>
            <a:r>
              <a:rPr sz="1000">
                <a:solidFill>
                  <a:srgbClr val="758A82"/>
                </a:solidFill>
                <a:latin typeface="JetBrains Mono"/>
              </a:rPr>
              <a:t>|  PACKSCAN REGULATORY ENGINE  |  OFFICIAL SIH 2026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/>
          <a:lstStyle/>
          <a:p>
            <a:pPr algn="ctr"/>
            <a:r>
              <a:rPr sz="2000" b="1">
                <a:solidFill>
                  <a:srgbClr val="F4F3EE"/>
                </a:solidFill>
                <a:latin typeface="Space Grotesk"/>
              </a:rPr>
              <a:t>4-Stage On-Device Machine Vision &amp; Legal Reasoning Engine</a:t>
            </a:r>
          </a:p>
          <a:p>
            <a:pPr>
              <a:spcBef>
                <a:spcPts val="200"/>
              </a:spcBef>
            </a:pPr>
            <a:r>
              <a:rPr sz="1100" i="1">
                <a:solidFill>
                  <a:srgbClr val="BAC5BF"/>
                </a:solidFill>
                <a:latin typeface="Inter"/>
              </a:rPr>
              <a:t>Deterministic Statutory Evaluation without Latency Bottlenecks or Cloud Privacy Compromises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/>
          <a:lstStyle/>
          <a:p>
            <a:pPr algn="ctr"/>
            <a:r>
              <a:rPr sz="950">
                <a:solidFill>
                  <a:srgbClr val="758A82"/>
                </a:solidFill>
                <a:latin typeface="JetBrains Mono"/>
              </a:rPr>
              <a:t>SMART INDIA HACKATHON 2026  •  PROBLEM STATEMENT: SIH26034  •  MINISTRY OF CONSUMER AFFAIRS &amp; FSSAI</a:t>
            </a:r>
            <a:r>
              <a:rPr sz="950" b="1">
                <a:solidFill>
                  <a:srgbClr val="10B981"/>
                </a:solidFill>
                <a:latin typeface="JetBrains Mono"/>
              </a:rPr>
              <a:t>            [ SLIDE 03 / 06 ]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2606040" cy="3840480"/>
          </a:xfrm>
          <a:prstGeom prst="rect">
            <a:avLst/>
          </a:prstGeom>
          <a:solidFill>
            <a:srgbClr val="081B16"/>
          </a:solidFill>
          <a:ln w="12700">
            <a:solidFill>
              <a:srgbClr val="1E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/>
            <a:r>
              <a:rPr sz="950" b="1">
                <a:solidFill>
                  <a:srgbClr val="10B981"/>
                </a:solidFill>
                <a:latin typeface="JetBrains Mono"/>
              </a:rPr>
              <a:t>STAGE 01 • 0.4s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F4F3EE"/>
                </a:solidFill>
                <a:latin typeface="Space Grotesk"/>
              </a:rPr>
              <a:t>Camera Ingestion &amp; Rectification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BAC5BF"/>
                </a:solidFill>
                <a:latin typeface="Inter"/>
              </a:rPr>
              <a:t>• 1080p Camera Frame Buffer Capture.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BAC5BF"/>
                </a:solidFill>
                <a:latin typeface="Inter"/>
              </a:rPr>
              <a:t>• CLAHE Adaptive Contrast for glare suppression.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BAC5BF"/>
                </a:solidFill>
                <a:latin typeface="Inter"/>
              </a:rPr>
              <a:t>• Packaging Boundary Corner Detection &amp; Dewarping.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BAC5BF"/>
                </a:solidFill>
                <a:latin typeface="Inter"/>
              </a:rPr>
              <a:t>• Principal Display Panel Area Calculation.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74136" y="1600200"/>
            <a:ext cx="2606040" cy="3840480"/>
          </a:xfrm>
          <a:prstGeom prst="rect">
            <a:avLst/>
          </a:prstGeom>
          <a:solidFill>
            <a:srgbClr val="081B16"/>
          </a:solidFill>
          <a:ln w="12700">
            <a:solidFill>
              <a:srgbClr val="1E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/>
            <a:r>
              <a:rPr sz="950" b="1">
                <a:solidFill>
                  <a:srgbClr val="34D399"/>
                </a:solidFill>
                <a:latin typeface="JetBrains Mono"/>
              </a:rPr>
              <a:t>STAGE 02 • 0.8s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F4F3EE"/>
                </a:solidFill>
                <a:latin typeface="Space Grotesk"/>
              </a:rPr>
              <a:t>Edge OCR &amp; Font Height Telemetry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BAC5BF"/>
                </a:solidFill>
                <a:latin typeface="Inter"/>
              </a:rPr>
              <a:t>• Neural Character Segmentation &amp; Bounding Boxes.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BAC5BF"/>
                </a:solidFill>
                <a:latin typeface="Inter"/>
              </a:rPr>
              <a:t>• Geometric x-height &amp; cap-height letter isolation.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BAC5BF"/>
                </a:solidFill>
                <a:latin typeface="Inter"/>
              </a:rPr>
              <a:t>• Optical Pixel-to-mm Focal Calibration Mapping.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BAC5BF"/>
                </a:solidFill>
                <a:latin typeface="Inter"/>
              </a:rPr>
              <a:t>• Direct comparison against Rule 9 Table I minimums.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1" y="1600200"/>
            <a:ext cx="2606040" cy="3840480"/>
          </a:xfrm>
          <a:prstGeom prst="rect">
            <a:avLst/>
          </a:prstGeom>
          <a:solidFill>
            <a:srgbClr val="081B16"/>
          </a:solidFill>
          <a:ln w="12700">
            <a:solidFill>
              <a:srgbClr val="1E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/>
            <a:r>
              <a:rPr sz="950" b="1">
                <a:solidFill>
                  <a:srgbClr val="D97706"/>
                </a:solidFill>
                <a:latin typeface="JetBrains Mono"/>
              </a:rPr>
              <a:t>STAGE 03 • 1.1s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F4F3EE"/>
                </a:solidFill>
                <a:latin typeface="Space Grotesk"/>
              </a:rPr>
              <a:t>Dual-Rule Engine &amp; Vector Matching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BAC5BF"/>
                </a:solidFill>
                <a:latin typeface="Inter"/>
              </a:rPr>
              <a:t>• Rule 6 Clause-by-Clause Regex &amp; Semantic Parser.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BAC5BF"/>
                </a:solidFill>
                <a:latin typeface="Inter"/>
              </a:rPr>
              <a:t>• FSSAI Allergen Cross-Reference (1,400+ synonyms).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BAC5BF"/>
                </a:solidFill>
                <a:latin typeface="Inter"/>
              </a:rPr>
              <a:t>• Chronic Nutrition Threshold Validator (% RDA).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BAC5BF"/>
                </a:solidFill>
                <a:latin typeface="Inter"/>
              </a:rPr>
              <a:t>• Multi-Jurisdiction Additive Banned Status Vector.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9025128" y="1600200"/>
            <a:ext cx="2606040" cy="3840480"/>
          </a:xfrm>
          <a:prstGeom prst="rect">
            <a:avLst/>
          </a:prstGeom>
          <a:solidFill>
            <a:srgbClr val="081B16"/>
          </a:solidFill>
          <a:ln w="12700">
            <a:solidFill>
              <a:srgbClr val="1E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/>
            <a:r>
              <a:rPr sz="950" b="1">
                <a:solidFill>
                  <a:srgbClr val="B8532F"/>
                </a:solidFill>
                <a:latin typeface="JetBrains Mono"/>
              </a:rPr>
              <a:t>STAGE 04 • 0.5s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F4F3EE"/>
                </a:solidFill>
                <a:latin typeface="Space Grotesk"/>
              </a:rPr>
              <a:t>Enforcement Export &amp; Health Ledger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BAC5BF"/>
                </a:solidFill>
                <a:latin typeface="Inter"/>
              </a:rPr>
              <a:t>• Forensic UI telemetry rendering.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BAC5BF"/>
                </a:solidFill>
                <a:latin typeface="Inter"/>
              </a:rPr>
              <a:t>• Section 36 PDF Penalty Legal Notice Compilation.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BAC5BF"/>
                </a:solidFill>
                <a:latin typeface="Inter"/>
              </a:rPr>
              <a:t>• Local Encrypted Health Ledger logging.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BAC5BF"/>
                </a:solidFill>
                <a:latin typeface="Inter"/>
              </a:rPr>
              <a:t>• Offline sync queue with cloud reconciliation.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23560"/>
            <a:ext cx="11094415" cy="594360"/>
          </a:xfrm>
          <a:prstGeom prst="rect">
            <a:avLst/>
          </a:prstGeom>
          <a:solidFill>
            <a:srgbClr val="0F2D25"/>
          </a:solidFill>
          <a:ln w="12700">
            <a:solidFill>
              <a:srgbClr val="1E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000" b="1">
                <a:solidFill>
                  <a:srgbClr val="10B981"/>
                </a:solidFill>
                <a:latin typeface="JetBrains Mono"/>
              </a:rPr>
              <a:t>PRODUCTION PERFORMANCE BENCHMARKS: </a:t>
            </a:r>
            <a:r>
              <a:rPr sz="950">
                <a:solidFill>
                  <a:srgbClr val="F4F3EE"/>
                </a:solidFill>
                <a:latin typeface="JetBrains Mono"/>
              </a:rPr>
              <a:t>Total Latency: &lt; 2.8s  |  OCR Accuracy: 96.4%  |  0 Cloud Latency in Offline Mode  |  Target: Standard Android/iOS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solidFill>
            <a:srgbClr val="0F2D25"/>
          </a:solidFill>
          <a:ln w="12700">
            <a:solidFill>
              <a:srgbClr val="1E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/>
          <a:lstStyle/>
          <a:p>
            <a:pPr algn="ctr"/>
            <a:r>
              <a:rPr sz="1000" b="1">
                <a:solidFill>
                  <a:srgbClr val="10B981"/>
                </a:solidFill>
                <a:latin typeface="JetBrains Mono"/>
              </a:rPr>
              <a:t>• SIH26034 • FEASIBILITY, EDGE CASES &amp; LEAN CANVAS  </a:t>
            </a:r>
            <a:r>
              <a:rPr sz="1000">
                <a:solidFill>
                  <a:srgbClr val="758A82"/>
                </a:solidFill>
                <a:latin typeface="JetBrains Mono"/>
              </a:rPr>
              <a:t>|  PACKSCAN REGULATORY ENGINE  |  OFFICIAL SIH 2026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/>
          <a:lstStyle/>
          <a:p>
            <a:pPr algn="ctr"/>
            <a:r>
              <a:rPr sz="2000" b="1">
                <a:solidFill>
                  <a:srgbClr val="F4F3EE"/>
                </a:solidFill>
                <a:latin typeface="Space Grotesk"/>
              </a:rPr>
              <a:t>Engineering Robustness &amp; Operational Viability Matrix</a:t>
            </a:r>
          </a:p>
          <a:p>
            <a:pPr>
              <a:spcBef>
                <a:spcPts val="200"/>
              </a:spcBef>
            </a:pPr>
            <a:r>
              <a:rPr sz="1100" i="1">
                <a:solidFill>
                  <a:srgbClr val="BAC5BF"/>
                </a:solidFill>
                <a:latin typeface="Inter"/>
              </a:rPr>
              <a:t>Overcoming Real-World Retail Artifacts and Ensuring Sustainable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/>
          <a:lstStyle/>
          <a:p>
            <a:pPr algn="ctr"/>
            <a:r>
              <a:rPr sz="950">
                <a:solidFill>
                  <a:srgbClr val="758A82"/>
                </a:solidFill>
                <a:latin typeface="JetBrains Mono"/>
              </a:rPr>
              <a:t>SMART INDIA HACKATHON 2026  •  PROBLEM STATEMENT: SIH26034  •  MINISTRY OF CONSUMER AFFAIRS &amp; FSSAI</a:t>
            </a:r>
            <a:r>
              <a:rPr sz="950" b="1">
                <a:solidFill>
                  <a:srgbClr val="10B981"/>
                </a:solidFill>
                <a:latin typeface="JetBrains Mono"/>
              </a:rPr>
              <a:t>            [ SLIDE 04 / 06 ]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3547872" cy="1737360"/>
          </a:xfrm>
          <a:prstGeom prst="rect">
            <a:avLst/>
          </a:prstGeom>
          <a:solidFill>
            <a:srgbClr val="081B16"/>
          </a:solidFill>
          <a:ln w="12700">
            <a:solidFill>
              <a:srgbClr val="1E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900" b="1">
                <a:solidFill>
                  <a:srgbClr val="B8532F"/>
                </a:solidFill>
                <a:latin typeface="JetBrains Mono"/>
              </a:rPr>
              <a:t>EDGE CASE 01: CURVED PACKAGING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4F3EE"/>
                </a:solidFill>
                <a:latin typeface="Space Grotesk"/>
              </a:rPr>
              <a:t>Cylindrical Can &amp; Bottle Warp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BAC5BF"/>
                </a:solidFill>
                <a:latin typeface="Inter"/>
              </a:rPr>
              <a:t>Distortion along curved surfaces causes standard OCR to fragment text. Solved via dynamic cylindrical unrolling algorithms and multi-angle composite stitching.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5968" y="1600200"/>
            <a:ext cx="3547872" cy="1737360"/>
          </a:xfrm>
          <a:prstGeom prst="rect">
            <a:avLst/>
          </a:prstGeom>
          <a:solidFill>
            <a:srgbClr val="081B16"/>
          </a:solidFill>
          <a:ln w="12700">
            <a:solidFill>
              <a:srgbClr val="1E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900" b="1">
                <a:solidFill>
                  <a:srgbClr val="D97706"/>
                </a:solidFill>
                <a:latin typeface="JetBrains Mono"/>
              </a:rPr>
              <a:t>EDGE CASE 02: MULTILINGUAL LABELS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4F3EE"/>
                </a:solidFill>
                <a:latin typeface="Space Grotesk"/>
              </a:rPr>
              <a:t>Devanagari + Regional Scripts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BAC5BF"/>
                </a:solidFill>
                <a:latin typeface="Inter"/>
              </a:rPr>
              <a:t>Indian FMCG labels frequently use dual-language declarations (Hindi/English). Solved via script-routing OCR and phonetic normalisation dictionaries.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83296" y="1600200"/>
            <a:ext cx="3547872" cy="1737360"/>
          </a:xfrm>
          <a:prstGeom prst="rect">
            <a:avLst/>
          </a:prstGeom>
          <a:solidFill>
            <a:srgbClr val="081B16"/>
          </a:solidFill>
          <a:ln w="12700">
            <a:solidFill>
              <a:srgbClr val="1E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900" b="1">
                <a:solidFill>
                  <a:srgbClr val="10B981"/>
                </a:solidFill>
                <a:latin typeface="JetBrains Mono"/>
              </a:rPr>
              <a:t>EDGE CASE 03: ZERO CONNECTIVITY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4F3EE"/>
                </a:solidFill>
                <a:latin typeface="Space Grotesk"/>
              </a:rPr>
              <a:t>Rural Kirana &amp; Offline Audits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BAC5BF"/>
                </a:solidFill>
                <a:latin typeface="Inter"/>
              </a:rPr>
              <a:t>Weak indoor cellular reception in supermarkets or remote villages. Solved via bundled edge rule definitions (Dexie/SQLite) requiring 0 cloud bytes to audit.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566160"/>
            <a:ext cx="2039112" cy="2651760"/>
          </a:xfrm>
          <a:prstGeom prst="rect">
            <a:avLst/>
          </a:prstGeom>
          <a:solidFill>
            <a:srgbClr val="0F2D25"/>
          </a:solidFill>
          <a:ln w="12700">
            <a:solidFill>
              <a:srgbClr val="1E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/>
            <a:r>
              <a:rPr sz="1000" b="1">
                <a:solidFill>
                  <a:srgbClr val="DC2626"/>
                </a:solidFill>
                <a:latin typeface="JetBrains Mono"/>
              </a:rPr>
              <a:t>PROBLEM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BAC5BF"/>
                </a:solidFill>
                <a:latin typeface="Inter"/>
              </a:rPr>
              <a:t>• Sub-millimeter dark patterns.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BAC5BF"/>
                </a:solidFill>
                <a:latin typeface="Inter"/>
              </a:rPr>
              <a:t>• 84.2% retail non-compliance.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BAC5BF"/>
                </a:solidFill>
                <a:latin typeface="Inter"/>
              </a:rPr>
              <a:t>• Concealed allergen risks.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07208" y="3566160"/>
            <a:ext cx="2039112" cy="2651760"/>
          </a:xfrm>
          <a:prstGeom prst="rect">
            <a:avLst/>
          </a:prstGeom>
          <a:solidFill>
            <a:srgbClr val="0F2D25"/>
          </a:solidFill>
          <a:ln w="12700">
            <a:solidFill>
              <a:srgbClr val="1E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/>
            <a:r>
              <a:rPr sz="1000" b="1">
                <a:solidFill>
                  <a:srgbClr val="10B981"/>
                </a:solidFill>
                <a:latin typeface="JetBrains Mono"/>
              </a:rPr>
              <a:t>SOLUTION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BAC5BF"/>
                </a:solidFill>
                <a:latin typeface="Inter"/>
              </a:rPr>
              <a:t>• Dual-rule edge OCR engine.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BAC5BF"/>
                </a:solidFill>
                <a:latin typeface="Inter"/>
              </a:rPr>
              <a:t>• Dynamic Rule 9 letter heights.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BAC5BF"/>
                </a:solidFill>
                <a:latin typeface="Inter"/>
              </a:rPr>
              <a:t>• Section 36 penalty notices.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65775" y="3566160"/>
            <a:ext cx="2039112" cy="2651760"/>
          </a:xfrm>
          <a:prstGeom prst="rect">
            <a:avLst/>
          </a:prstGeom>
          <a:solidFill>
            <a:srgbClr val="0F2D25"/>
          </a:solidFill>
          <a:ln w="12700">
            <a:solidFill>
              <a:srgbClr val="1E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/>
            <a:r>
              <a:rPr sz="1000" b="1">
                <a:solidFill>
                  <a:srgbClr val="34D399"/>
                </a:solidFill>
                <a:latin typeface="JetBrains Mono"/>
              </a:rPr>
              <a:t>KEY METRICS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BAC5BF"/>
                </a:solidFill>
                <a:latin typeface="Inter"/>
              </a:rPr>
              <a:t>• &lt; 2.8s scan turnaround.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BAC5BF"/>
                </a:solidFill>
                <a:latin typeface="Inter"/>
              </a:rPr>
              <a:t>• 96.4% declaration recall.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BAC5BF"/>
                </a:solidFill>
                <a:latin typeface="Inter"/>
              </a:rPr>
              <a:t>• 100% offline capability.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24344" y="3566160"/>
            <a:ext cx="2039112" cy="2651760"/>
          </a:xfrm>
          <a:prstGeom prst="rect">
            <a:avLst/>
          </a:prstGeom>
          <a:solidFill>
            <a:srgbClr val="0F2D25"/>
          </a:solidFill>
          <a:ln w="12700">
            <a:solidFill>
              <a:srgbClr val="1E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/>
            <a:r>
              <a:rPr sz="1000" b="1">
                <a:solidFill>
                  <a:srgbClr val="D97706"/>
                </a:solidFill>
                <a:latin typeface="JetBrains Mono"/>
              </a:rPr>
              <a:t>COST STRUCTURE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BAC5BF"/>
                </a:solidFill>
                <a:latin typeface="Inter"/>
              </a:rPr>
              <a:t>• Zero specialized hardware.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BAC5BF"/>
                </a:solidFill>
                <a:latin typeface="Inter"/>
              </a:rPr>
              <a:t>• Client-side compute = ₹0 API.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BAC5BF"/>
                </a:solidFill>
                <a:latin typeface="Inter"/>
              </a:rPr>
              <a:t>• Free public consumer tier.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82911" y="3566160"/>
            <a:ext cx="2039112" cy="2651760"/>
          </a:xfrm>
          <a:prstGeom prst="rect">
            <a:avLst/>
          </a:prstGeom>
          <a:solidFill>
            <a:srgbClr val="0F2D25"/>
          </a:solidFill>
          <a:ln w="12700">
            <a:solidFill>
              <a:srgbClr val="1E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/>
            <a:r>
              <a:rPr sz="1000" b="1">
                <a:solidFill>
                  <a:srgbClr val="B8532F"/>
                </a:solidFill>
                <a:latin typeface="JetBrains Mono"/>
              </a:rPr>
              <a:t>UNFAIR ADVANTAGE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BAC5BF"/>
                </a:solidFill>
                <a:latin typeface="Inter"/>
              </a:rPr>
              <a:t>• Dual legal + medical engine.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BAC5BF"/>
                </a:solidFill>
                <a:latin typeface="Inter"/>
              </a:rPr>
              <a:t>• Automated legal dossiers.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BAC5BF"/>
                </a:solidFill>
                <a:latin typeface="Inter"/>
              </a:rPr>
              <a:t>• Tailored to Indian FMCG.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solidFill>
            <a:srgbClr val="0F2D25"/>
          </a:solidFill>
          <a:ln w="12700">
            <a:solidFill>
              <a:srgbClr val="1E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/>
          <a:lstStyle/>
          <a:p>
            <a:pPr algn="ctr"/>
            <a:r>
              <a:rPr sz="1000" b="1">
                <a:solidFill>
                  <a:srgbClr val="10B981"/>
                </a:solidFill>
                <a:latin typeface="JetBrains Mono"/>
              </a:rPr>
              <a:t>• SIH26034 • SOCIETAL, HEALTH &amp; ECONOMIC IMPACT  </a:t>
            </a:r>
            <a:r>
              <a:rPr sz="1000">
                <a:solidFill>
                  <a:srgbClr val="758A82"/>
                </a:solidFill>
                <a:latin typeface="JetBrains Mono"/>
              </a:rPr>
              <a:t>|  PACKSCAN REGULATORY ENGINE  |  OFFICIAL SIH 2026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/>
          <a:lstStyle/>
          <a:p>
            <a:pPr algn="ctr"/>
            <a:r>
              <a:rPr sz="2000" b="1">
                <a:solidFill>
                  <a:srgbClr val="F4F3EE"/>
                </a:solidFill>
                <a:latin typeface="Space Grotesk"/>
              </a:rPr>
              <a:t>Public Health Defense, Cross-Border Benchmarking &amp; Revenue Recovery</a:t>
            </a:r>
          </a:p>
          <a:p>
            <a:pPr>
              <a:spcBef>
                <a:spcPts val="200"/>
              </a:spcBef>
            </a:pPr>
            <a:r>
              <a:rPr sz="1100" i="1">
                <a:solidFill>
                  <a:srgbClr val="BAC5BF"/>
                </a:solidFill>
                <a:latin typeface="Inter"/>
              </a:rPr>
              <a:t>Quantifiable Dividends for 1.4 Billion Consumers and Government Enforcement Bodies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/>
          <a:lstStyle/>
          <a:p>
            <a:pPr algn="ctr"/>
            <a:r>
              <a:rPr sz="950">
                <a:solidFill>
                  <a:srgbClr val="758A82"/>
                </a:solidFill>
                <a:latin typeface="JetBrains Mono"/>
              </a:rPr>
              <a:t>SMART INDIA HACKATHON 2026  •  PROBLEM STATEMENT: SIH26034  •  MINISTRY OF CONSUMER AFFAIRS &amp; FSSAI</a:t>
            </a:r>
            <a:r>
              <a:rPr sz="950" b="1">
                <a:solidFill>
                  <a:srgbClr val="10B981"/>
                </a:solidFill>
                <a:latin typeface="JetBrains Mono"/>
              </a:rPr>
              <a:t>            [ SLIDE 05 / 06 ]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3547872" cy="4572000"/>
          </a:xfrm>
          <a:prstGeom prst="rect">
            <a:avLst/>
          </a:prstGeom>
          <a:solidFill>
            <a:srgbClr val="081B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/>
          <a:lstStyle/>
          <a:p>
            <a:pPr algn="ctr"/>
            <a:r>
              <a:rPr sz="1000" b="1">
                <a:solidFill>
                  <a:srgbClr val="10B981"/>
                </a:solidFill>
                <a:latin typeface="JetBrains Mono"/>
              </a:rPr>
              <a:t>IMPACT SECTOR 01</a:t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F4F3EE"/>
                </a:solidFill>
                <a:latin typeface="Space Grotesk"/>
              </a:rPr>
              <a:t>Preventive NCD Defense</a:t>
            </a:r>
          </a:p>
          <a:p>
            <a:pPr>
              <a:spcBef>
                <a:spcPts val="1000"/>
              </a:spcBef>
            </a:pPr>
            <a:r>
              <a:rPr sz="3600" b="1">
                <a:solidFill>
                  <a:srgbClr val="10B981"/>
                </a:solidFill>
                <a:latin typeface="Space Grotesk"/>
              </a:rPr>
              <a:t>101M+</a:t>
            </a:r>
          </a:p>
          <a:p>
            <a:r>
              <a:rPr sz="950">
                <a:solidFill>
                  <a:srgbClr val="758A82"/>
                </a:solidFill>
                <a:latin typeface="JetBrains Mono"/>
              </a:rPr>
              <a:t>Diabetic Citizens Protected (ICMR)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BAC5BF"/>
                </a:solidFill>
                <a:latin typeface="Inter"/>
              </a:rPr>
              <a:t>• Unmasks hidden glycemic loads (maltodextrin, high-fructose syrup) concealed under micro fine print.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BAC5BF"/>
                </a:solidFill>
                <a:latin typeface="Inter"/>
              </a:rPr>
              <a:t>• Protects 315M+ hypertensive Indians by flagging sodium in excess of 600mg per 100g serving.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BAC5BF"/>
                </a:solidFill>
                <a:latin typeface="Inter"/>
              </a:rPr>
              <a:t>• Eliminates accidental emergency room anaphylaxis across 8 major food allergen classes.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5968" y="1600200"/>
            <a:ext cx="3547872" cy="4572000"/>
          </a:xfrm>
          <a:prstGeom prst="rect">
            <a:avLst/>
          </a:prstGeom>
          <a:solidFill>
            <a:srgbClr val="081B1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/>
          <a:lstStyle/>
          <a:p>
            <a:pPr algn="ctr"/>
            <a:r>
              <a:rPr sz="1000" b="1">
                <a:solidFill>
                  <a:srgbClr val="D97706"/>
                </a:solidFill>
                <a:latin typeface="JetBrains Mono"/>
              </a:rPr>
              <a:t>IMPACT SECTOR 02</a:t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F4F3EE"/>
                </a:solidFill>
                <a:latin typeface="Space Grotesk"/>
              </a:rPr>
              <a:t>Cross-Border Harmonization</a:t>
            </a:r>
          </a:p>
          <a:p>
            <a:pPr>
              <a:spcBef>
                <a:spcPts val="1000"/>
              </a:spcBef>
            </a:pPr>
            <a:r>
              <a:rPr sz="3600" b="1">
                <a:solidFill>
                  <a:srgbClr val="D97706"/>
                </a:solidFill>
                <a:latin typeface="Space Grotesk"/>
              </a:rPr>
              <a:t>140+</a:t>
            </a:r>
          </a:p>
          <a:p>
            <a:r>
              <a:rPr sz="950">
                <a:solidFill>
                  <a:srgbClr val="758A82"/>
                </a:solidFill>
                <a:latin typeface="JetBrains Mono"/>
              </a:rPr>
              <a:t>Global Additive Directives Monitored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BAC5BF"/>
                </a:solidFill>
                <a:latin typeface="Inter"/>
              </a:rPr>
              <a:t>• E171 Titanium Dioxide: Banned by EFSA (EU Reg 2022/63) for genotoxicity, yet still found in domestic confectionary.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BAC5BF"/>
                </a:solidFill>
                <a:latin typeface="Inter"/>
              </a:rPr>
              <a:t>• Tartrazine (E102): Flags UK Southampton warning ('may have adverse effect on activity in children').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BAC5BF"/>
                </a:solidFill>
                <a:latin typeface="Inter"/>
              </a:rPr>
              <a:t>• Closes regulatory arbitrage exploited by multinational conglomerates in emerging markets.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83296" y="1600200"/>
            <a:ext cx="3547872" cy="4572000"/>
          </a:xfrm>
          <a:prstGeom prst="rect">
            <a:avLst/>
          </a:prstGeom>
          <a:solidFill>
            <a:srgbClr val="081B16"/>
          </a:solidFill>
          <a:ln w="19050">
            <a:solidFill>
              <a:srgbClr val="B85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/>
          <a:lstStyle/>
          <a:p>
            <a:pPr algn="ctr"/>
            <a:r>
              <a:rPr sz="1000" b="1">
                <a:solidFill>
                  <a:srgbClr val="B8532F"/>
                </a:solidFill>
                <a:latin typeface="JetBrains Mono"/>
              </a:rPr>
              <a:t>IMPACT SECTOR 03</a:t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F4F3EE"/>
                </a:solidFill>
                <a:latin typeface="Space Grotesk"/>
              </a:rPr>
              <a:t>Statutory Revenue Recovery</a:t>
            </a:r>
          </a:p>
          <a:p>
            <a:pPr>
              <a:spcBef>
                <a:spcPts val="1000"/>
              </a:spcBef>
            </a:pPr>
            <a:r>
              <a:rPr sz="3600" b="1">
                <a:solidFill>
                  <a:srgbClr val="B8532F"/>
                </a:solidFill>
                <a:latin typeface="Space Grotesk"/>
              </a:rPr>
              <a:t>₹50,000</a:t>
            </a:r>
          </a:p>
          <a:p>
            <a:r>
              <a:rPr sz="950">
                <a:solidFill>
                  <a:srgbClr val="758A82"/>
                </a:solidFill>
                <a:latin typeface="JetBrains Mono"/>
              </a:rPr>
              <a:t>Section 36 Compounding Fine per Violation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BAC5BF"/>
                </a:solidFill>
                <a:latin typeface="Inter"/>
              </a:rPr>
              <a:t>• Empowers 5,000+ Legal Metrology Inspectors across India with 10x faster inspection turnaround.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BAC5BF"/>
                </a:solidFill>
                <a:latin typeface="Inter"/>
              </a:rPr>
              <a:t>• Eliminates evidentiary dismissal in consumer courts via tamper-evident cryptographic image hashes.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BAC5BF"/>
                </a:solidFill>
                <a:latin typeface="Inter"/>
              </a:rPr>
              <a:t>• Establishes transparent accountability across large-scale retail supermarket chains.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solidFill>
            <a:srgbClr val="0F2D25"/>
          </a:solidFill>
          <a:ln w="12700">
            <a:solidFill>
              <a:srgbClr val="1E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/>
          <a:lstStyle/>
          <a:p>
            <a:pPr algn="ctr"/>
            <a:r>
              <a:rPr sz="1000" b="1">
                <a:solidFill>
                  <a:srgbClr val="10B981"/>
                </a:solidFill>
                <a:latin typeface="JetBrains Mono"/>
              </a:rPr>
              <a:t>• SIH26034 • STATUTORY BIBLIOGRAPHY &amp; SCIENTIFIC CITATIONS  </a:t>
            </a:r>
            <a:r>
              <a:rPr sz="1000">
                <a:solidFill>
                  <a:srgbClr val="758A82"/>
                </a:solidFill>
                <a:latin typeface="JetBrains Mono"/>
              </a:rPr>
              <a:t>|  PACKSCAN REGULATORY ENGINE  |  OFFICIAL SIH 2026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/>
          <a:lstStyle/>
          <a:p>
            <a:pPr algn="ctr"/>
            <a:r>
              <a:rPr sz="2000" b="1">
                <a:solidFill>
                  <a:srgbClr val="F4F3EE"/>
                </a:solidFill>
                <a:latin typeface="Space Grotesk"/>
              </a:rPr>
              <a:t>Statutory Legal Acts &amp; Peer-Reviewed Scientific Bibliography</a:t>
            </a:r>
          </a:p>
          <a:p>
            <a:pPr>
              <a:spcBef>
                <a:spcPts val="200"/>
              </a:spcBef>
            </a:pPr>
            <a:r>
              <a:rPr sz="1100" i="1">
                <a:solidFill>
                  <a:srgbClr val="BAC5BF"/>
                </a:solidFill>
                <a:latin typeface="Inter"/>
              </a:rPr>
              <a:t>A Rigorous Research Foundation Grounded in Published Law and Clinical Nutritional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/>
          <a:lstStyle/>
          <a:p>
            <a:pPr algn="ctr"/>
            <a:r>
              <a:rPr sz="950">
                <a:solidFill>
                  <a:srgbClr val="758A82"/>
                </a:solidFill>
                <a:latin typeface="JetBrains Mono"/>
              </a:rPr>
              <a:t>SMART INDIA HACKATHON 2026  •  PROBLEM STATEMENT: SIH26034  •  MINISTRY OF CONSUMER AFFAIRS &amp; FSSAI</a:t>
            </a:r>
            <a:r>
              <a:rPr sz="950" b="1">
                <a:solidFill>
                  <a:srgbClr val="10B981"/>
                </a:solidFill>
                <a:latin typeface="JetBrains Mono"/>
              </a:rPr>
              <a:t>            [ SLIDE 06 / 06 ]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5394960" cy="4572000"/>
          </a:xfrm>
          <a:prstGeom prst="rect">
            <a:avLst/>
          </a:prstGeom>
          <a:solidFill>
            <a:srgbClr val="081B16"/>
          </a:solidFill>
          <a:ln w="12700">
            <a:solidFill>
              <a:srgbClr val="1E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sz="1000" b="1">
                <a:solidFill>
                  <a:srgbClr val="10B981"/>
                </a:solidFill>
                <a:latin typeface="JetBrains Mono"/>
              </a:rPr>
              <a:t>STATUTORY LEGAL ACTS &amp; GAZETTES</a:t>
            </a:r>
          </a:p>
          <a:p>
            <a:pPr>
              <a:spcBef>
                <a:spcPts val="200"/>
              </a:spcBef>
            </a:pPr>
            <a:r>
              <a:rPr sz="1400" b="1">
                <a:solidFill>
                  <a:srgbClr val="F4F3EE"/>
                </a:solidFill>
                <a:latin typeface="Space Grotesk"/>
              </a:rPr>
              <a:t>Government of India Regulatory Framework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34D399"/>
                </a:solidFill>
                <a:latin typeface="JetBrains Mono"/>
              </a:rPr>
              <a:t>[1] Legal Metrology Act, 2009 (Act No. 1 of 2010)</a:t>
            </a:r>
          </a:p>
          <a:p>
            <a:r>
              <a:rPr sz="950">
                <a:solidFill>
                  <a:srgbClr val="BAC5BF"/>
                </a:solidFill>
                <a:latin typeface="Inter"/>
              </a:rPr>
              <a:t>Section 36(1) &amp; (2): Penalty for selling non-standard packages and compounding penalties up to ₹50,000 for recurring non-compliance.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34D399"/>
                </a:solidFill>
                <a:latin typeface="JetBrains Mono"/>
              </a:rPr>
              <a:t>[2] Legal Metrology (Packaged Commodities) Rules, 2011</a:t>
            </a:r>
          </a:p>
          <a:p>
            <a:r>
              <a:rPr sz="950">
                <a:solidFill>
                  <a:srgbClr val="BAC5BF"/>
                </a:solidFill>
                <a:latin typeface="Inter"/>
              </a:rPr>
              <a:t>Rule 6 (Mandatory declarations: MRP, Net Qty, Mfg date, Consumer Care) &amp; Rule 9 (Table I &amp; II: Minimum numeral &amp; letter print heights).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34D399"/>
                </a:solidFill>
                <a:latin typeface="JetBrains Mono"/>
              </a:rPr>
              <a:t>[3] FSSAI (Labelling and Display) Regulations, 2020</a:t>
            </a:r>
          </a:p>
          <a:p>
            <a:r>
              <a:rPr sz="950">
                <a:solidFill>
                  <a:srgbClr val="BAC5BF"/>
                </a:solidFill>
                <a:latin typeface="Inter"/>
              </a:rPr>
              <a:t>F. No. 1-94/FSSAI/SP(L&amp;C)/2017: Nutritional information per 100g/serving, % RDA contribution, and mandatory 8 major allergen declarations.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34D399"/>
                </a:solidFill>
                <a:latin typeface="JetBrains Mono"/>
              </a:rPr>
              <a:t>[4] Consumer Protection Act, 2019 (Act No. 35 of 2019)</a:t>
            </a:r>
          </a:p>
          <a:p>
            <a:r>
              <a:rPr sz="950">
                <a:solidFill>
                  <a:srgbClr val="BAC5BF"/>
                </a:solidFill>
                <a:latin typeface="Inter"/>
              </a:rPr>
              <a:t>Section 2(28) &amp; Section 89: Prosecution against misleading advertisements and deliberate concealment of material facts on packaging.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34D399"/>
                </a:solidFill>
                <a:latin typeface="JetBrains Mono"/>
              </a:rPr>
              <a:t>[5] CCPA Guidelines for Prevention of Dark Patterns, 2023</a:t>
            </a:r>
          </a:p>
          <a:p>
            <a:r>
              <a:rPr sz="950">
                <a:solidFill>
                  <a:srgbClr val="BAC5BF"/>
                </a:solidFill>
                <a:latin typeface="Inter"/>
              </a:rPr>
              <a:t>Prohibits deceptive packaging architectures, disguised advertising, and obscured consumer grievance pathways.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00200"/>
            <a:ext cx="5394960" cy="4572000"/>
          </a:xfrm>
          <a:prstGeom prst="rect">
            <a:avLst/>
          </a:prstGeom>
          <a:solidFill>
            <a:srgbClr val="081B16"/>
          </a:solidFill>
          <a:ln w="12700">
            <a:solidFill>
              <a:srgbClr val="1E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sz="1000" b="1">
                <a:solidFill>
                  <a:srgbClr val="D97706"/>
                </a:solidFill>
                <a:latin typeface="JetBrains Mono"/>
              </a:rPr>
              <a:t>PEER-REVIEWED CLINICAL &amp; TECHNICAL PAPERS</a:t>
            </a:r>
          </a:p>
          <a:p>
            <a:pPr>
              <a:spcBef>
                <a:spcPts val="200"/>
              </a:spcBef>
            </a:pPr>
            <a:r>
              <a:rPr sz="1400" b="1">
                <a:solidFill>
                  <a:srgbClr val="F4F3EE"/>
                </a:solidFill>
                <a:latin typeface="Space Grotesk"/>
              </a:rPr>
              <a:t>Published Medical &amp; Computer Vision Evidence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D97706"/>
                </a:solidFill>
                <a:latin typeface="JetBrains Mono"/>
              </a:rPr>
              <a:t>[6] EFSA Panel on Food Additives (2021)</a:t>
            </a:r>
          </a:p>
          <a:p>
            <a:r>
              <a:rPr sz="950">
                <a:solidFill>
                  <a:srgbClr val="BAC5BF"/>
                </a:solidFill>
                <a:latin typeface="Inter"/>
              </a:rPr>
              <a:t>"Safety assessment of titanium dioxide (E171) as a food additive." EFSA Journal, 19(5):6585. Proves genotoxicity and DNA strand breakage.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D97706"/>
                </a:solidFill>
                <a:latin typeface="JetBrains Mono"/>
              </a:rPr>
              <a:t>[7] McCann, D., et al. (2007) - The Lancet</a:t>
            </a:r>
          </a:p>
          <a:p>
            <a:r>
              <a:rPr sz="950">
                <a:solidFill>
                  <a:srgbClr val="BAC5BF"/>
                </a:solidFill>
                <a:latin typeface="Inter"/>
              </a:rPr>
              <a:t>"Food additives and hyperactive behaviour in children." The Lancet, 370(9598):1560-1567. Established clinical link between azo dyes &amp; ADHD.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D97706"/>
                </a:solidFill>
                <a:latin typeface="JetBrains Mono"/>
              </a:rPr>
              <a:t>[8] ICMR-INDIAB National Study (2023)</a:t>
            </a:r>
          </a:p>
          <a:p>
            <a:r>
              <a:rPr sz="950">
                <a:solidFill>
                  <a:srgbClr val="BAC5BF"/>
                </a:solidFill>
                <a:latin typeface="Inter"/>
              </a:rPr>
              <a:t>"Prevalence of diabetes and NCDs in India." Lancet Diabetes &amp; Endocrinology, 11(7):474-489. Documents 101M diabetics &amp; 136M pre-diabetics.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D97706"/>
                </a:solidFill>
                <a:latin typeface="JetBrains Mono"/>
              </a:rPr>
              <a:t>[9] Popkin, B. M., et al. (2012)</a:t>
            </a:r>
          </a:p>
          <a:p>
            <a:r>
              <a:rPr sz="950">
                <a:solidFill>
                  <a:srgbClr val="BAC5BF"/>
                </a:solidFill>
                <a:latin typeface="Inter"/>
              </a:rPr>
              <a:t>"Global nutrition transition and the pandemic of obesity in developing countries." Nutrition Reviews, 70(1):3-21.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D97706"/>
                </a:solidFill>
                <a:latin typeface="JetBrains Mono"/>
              </a:rPr>
              <a:t>[10] ISO/IEC 15415 &amp; 15416 International Standards</a:t>
            </a:r>
          </a:p>
          <a:p>
            <a:r>
              <a:rPr sz="950">
                <a:solidFill>
                  <a:srgbClr val="BAC5BF"/>
                </a:solidFill>
                <a:latin typeface="Inter"/>
              </a:rPr>
              <a:t>Information technology — Automatic identification &amp; data capture: Barcode print quality test specification for packaging verification.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