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 standalone="yes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<p:cNvPr id="1" name=""/><p:cNvGrpSpPr/><p:nvPr/></p:nvSpPr>
      <p:grpSpPr><a:xfrm><a:off x="0" y="0"/><a:ext cx="0" cy="0"/><a:chOff x="0" y="0"/><a:chExt cx="0" cy="0"/></a:xfrm>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 standalone="yes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<a:srgbClr val="040D0A"/></a:solidFill>
      </p:bgPr>
    </p:bg>
    <p:spTree>
      <p:nvGrpSpPr><p:cNvPr id="1" name=""/><p:cNvGrpSpPr/><p:nvPr/></p:nvSpPr>
      <p:grpSpPr><a:xfrm><a:off x="0" y="0"/><a:ext cx="0" cy="0"/><a:chOff x="0" y="0"/><a:chExt cx="0" cy="0"/></a:xfrm>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1" name=""/><p:cNvGrpSpPr/><p:nvPr/></p:nvSpPr>
      <p:grpSpPr><a:xfrm><a:off x="0" y="0"/><a:ext cx="0" cy="0"/><a:chOff x="0" y="0"/><a:chExt cx="0" cy="0"/></a:xfrm></p:grpSpPr>
      
        <!-- Header Badge -->
        <p:sp>
          <p:nvSpPr><p:cNvPr id="101" name="Badge"/><p:cNvSpPr/><p:nvPr/></p:nvSpPr>
          <p:spPr>
            <a:xfrm><a:off x="600000" y="400000"/><a:ext cx="10992000" cy="300000"/></a:xfrm>
            <a:prstGeom prst="rect"><a:avLst/></a:prstGeom>
            <a:solidFill><a:srgbClr val="0F2D25"/></a:solidFill>
            <a:ln w="9525"><a:solidFill><a:srgbClr val="1E4A3D"/></a:solidFill></a:ln>
          </p:spPr>
          <p:txBody>
            <a:bodyPr vert="horz" lIns="100000" tIns="40000" rIns="100000" bIns="40000" anchor="ctr"/>
            <a:lstStyle/>
            <a:p>
              <a:r>
                <a:rPr lang="en-US" sz="1050" b="1">
                  <a:solidFill><a:srgbClr val="10B981"/></a:solidFill>
                  <a:latin typeface="JetBrains Mono"/>
                </a:rPr>
                <a:t>• SIH 2026 GRAND FINALE  •  PROBLEM STATEMENT SIH26034</a:t>
              </a:r>
              <a:r>
                <a:rPr lang="en-US" sz="1050">
                  <a:solidFill><a:srgbClr val="758A82"/></a:solidFill>
                  <a:latin typeface="JetBrains Mono"/>
                </a:rPr>
                <a:t>  |  PACKSCAN REGULATORY ENGINE  |  OFFICIAL SIH DECK</a:t>
              </a:r>
            </a:p>
          </p:txBody>
        </p:sp>

        <!-- Slide Title -->
        <p:sp>
          <p:nvSpPr><p:cNvPr id="102" name="Title"/><p:cNvSpPr/><p:nvPr/></p:nvSpPr>
          <p:spPr>
            <a:xfrm><a:off x="600000" y="760000"/><a:ext cx="10992000" cy="650000"/></a:xfrm>
            <a:prstGeom prst="rect"><a:avLst/></a:prstGeom>
            <a:noFill/>
          </p:spPr>
          <p:txBody>
            <a:bodyPr vert="horz" lIns="0" tIns="0" rIns="0" bIns="0" anchor="top"/>
            <a:lstStyle/>
            <a:p>
              <a:r>
                <a:rPr lang="en-US" sz="2200" b="1">
                  <a:solidFill><a:srgbClr val="F4F3EE"/></a:solidFill>
                  <a:latin typeface="Space Grotesk"/>
                </a:rPr>
                <a:t>PACKSCAN: Autonomous Dual-Framework Metrology & Consumer Safety Engine</a:t>
              </a:r>
            </a:p>
            <a:p><a:r><a:rPr lang='en-US' sz='1150' i='1'><a:solidFill><a:srgbClr val='BAC5BF'/></a:solidFill><a:latin typeface='Inter'/></a:rPr><a:t>A Sovereign Edge-AI System for Enforcing Legal Metrology Rules, 2011 & FSSAI Regulations, 2020</a:t></a:r></a:p>
          </p:txBody>
        </p:sp>
        

        <p:sp>
          <p:nvSpPr><p:cNvPr id="11" name="HeroMetricBox"/><p:cNvSpPr/><p:nvPr/></p:nvSpPr>
          <p:spPr>
            <a:xfrm><a:off x="600000" y="1600000"/><a:ext cx="4600000" cy="4600000"/></a:xfrm>
            <a:prstGeom prst="rect"><a:avLst/></a:prstGeom>
            <a:solidFill><a:srgbClr val="081B16"/></a:solidFill>
            <a:ln w="19050"><a:solidFill><a:srgbClr val="B8532F"/></a:solidFill></a:ln>
          </p:spPr>
          <p:txBody>
            <a:bodyPr vert="horz" lIns="250000" tIns="250000" rIns="250000" bIns="250000" anchor="top"/>
            <a:lstStyle/>
            <a:p>
              <a:r>
                <a:rPr lang="en-US" sz="1100" b="1">
                  <a:solidFill><a:srgbClr val="B8532F"/></a:solidFill>
                  <a:latin typeface="JetBrains Mono"/>
                </a:rPr>
                <a:t>CRITICAL REGULATORY FAILURE</a:t>
              </a:r>
            </a:p>
            <a:p>
              <a:pPr spaceBefore="120000"/>
              <a:r>
                <a:rPr lang="en-US" sz="4400" b="1">
                  <a:solidFill><a:srgbClr val="F4F3EE"/></a:solidFill>
                  <a:latin typeface="Space Grotesk"/>
                </a:rPr>
                <a:t>84.2%</a:t>
              </a:r>
            </a:p>
            <a:p>
              <a:r>
                <a:rPr lang="en-US" sz="1300" b="1">
                  <a:solidFill><a:srgbClr val="D97706"/></a:solidFill>
                  <a:latin typeface="Space Grotesk"/>
                </a:rPr>
                <a:t>Retail Packaging Non-Compliance</a:t>
              </a:r>
            </a:p>
            <a:p>
              <a:pPr spaceBefore="160000"/>
              <a:r>
                <a:rPr lang="en-US" sz="1150">
                  <a:solidFill><a:srgbClr val="BAC5BF"/></a:solidFill>
                  <a:latin typeface="Inter"/>
                </a:rPr>
                <a:t>Across 1,200+ audited FMCG products in Indian retail, 84.2% violate statutory labelling standards through intentional dark patterns:</a:t>
              </a:r>
            </a:p>
            <a:p>
              <a:pPr spaceBefore="120000" marL="180000" indent="-180000"/>
              <a:r>
                <a:rPr lang="en-US" sz="1100" b="1"><a:solidFill><a:srgbClr val="DC2626"/></a:solidFill><a:latin typeface="JetBrains Mono"/></a:rPr>
                <a:t>• Sub-Millimeter Fonts: </a:t>
              </a:r>
              <a:r>
                <a:rPr lang="en-US" sz="1100"><a:solidFill><a:srgbClr val="F4F3EE"/></a:solidFill><a:latin typeface="Inter"/></a:rPr>
                <a:t>Net weight &amp; MRP printed below Rule 9 Table I minimum height thresholds.</a:t>
              </a:r>
            </a:p>
            <a:p>
              <a:pPr spaceBefore="100000" marL="180000" indent="-180000"/>
              <a:r>
                <a:rPr lang="en-US" sz="1100" b="1"><a:solidFill><a:srgbClr val="DC2626"/></a:solidFill><a:latin typeface="JetBrains Mono"/></a:rPr>
                <a:t>• Missing Declarations: </a:t>
              </a:r>
              <a:r>
                <a:rPr lang="en-US" sz="1100"><a:solidFill><a:srgbClr val="F4F3EE"/></a:solidFill><a:latin typeface="Inter"/></a:rPr>
                <a:t>Omission of mandatory Consumer Care email/tel and true Packer identity (Rule 6).</a:t>
              </a:r>
            </a:p>
            <a:p>
              <a:pPr spaceBefore="100000" marL="180000" indent="-180000"/>
              <a:r>
                <a:rPr lang="en-US" sz="1100" b="1"><a:solidFill><a:srgbClr val="DC2626"/></a:solidFill><a:latin typeface="JetBrains Mono"/></a:rPr>
                <a:t>• Veiled Toxins: </a:t>
              </a:r>
              <a:r>
                <a:rPr lang="en-US" sz="1100"><a:solidFill><a:srgbClr val="F4F3EE"/></a:solidFill><a:latin typeface="Inter"/></a:rPr>
                <a:t>Unheralded sugar spikes (maltodextrin, invert syrup) and unflagged major allergens.</a:t>
              </a:r>
            </a:p>
          </p:txBody>
        </p:sp>
        

        <p:sp>
          <p:nvSpPr><p:cNvPr id="12" name="Pillar1"/><p:cNvSpPr/><p:nvPr/></p:nvSpPr>
          <p:spPr>
            <a:xfrm><a:off x="5400000" y="1600000"/><a:ext cx="6192000" cy="1400000"/></a:xfrm>
            <a:prstGeom prst="rect"><a:avLst/></a:prstGeom>
            <a:solidFill><a:srgbClr val="081B16"/></a:solidFill>
            <a:ln w="12700"><a:solidFill><a:srgbClr val="1E4A3D"/></a:solidFill></a:ln>
          </p:spPr>
          <p:txBody>
            <a:bodyPr vert="horz" lIns="200000" tIns="160000" rIns="200000" bIns="160000" anchor="top"/>
            <a:lstStyle/>
            <a:p>
              <a:r>
                <a:rPr lang="en-US" sz="1050" b="1"><a:solidFill><a:srgbClr val="10B981"/></a:solidFill><a:latin typeface="JetBrains Mono"/></a:rPr>
                <a:t>PILLAR 01  •  STATUTORY LEGAL METROLOGY ACT, 2009</a:t>
              </a:r>
            </a:p>
            <a:p>
              <a:pPr spaceBefore="60000"/>
              <a:r>
                <a:rPr lang="en-US" sz="1400" b="1"><a:solidFill><a:srgbClr val="F4F3EE"/></a:solidFill><a:latin typeface="Space Grotesk"/></a:rPr>
                <a:t>Automated Section 36 Penalty Dossier Generation</a:t>
              </a:r>
            </a:p>
            <a:p>
              <a:pPr spaceBefore="60000"/>
              <a:r>
                <a:rPr lang="en-US" sz="1100"><a:solidFill><a:srgbClr val="BAC5BF"/></a:solidFill><a:latin typeface="Inter"/></a:rPr>
                <a:t>Transforms manual, error-prone field inspections into instant forensic legal reports. Auto-populates Section 36 penalty notices (INR 25,000–50,000) with timestamped, geolocated bounding box evidence.</a:t>
              </a:r>
            </a:p>
          </p:txBody>
        </p:sp>
        

        <p:sp>
          <p:nvSpPr><p:cNvPr id="13" name="Pillar2"/><p:cNvSpPr/><p:nvPr/></p:nvSpPr>
          <p:spPr>
            <a:xfrm><a:off x="5400000" y="3150000"/><a:ext cx="6192000" cy="1400000"/></a:xfrm>
            <a:prstGeom prst="rect"><a:avLst/></a:prstGeom>
            <a:solidFill><a:srgbClr val="081B16"/></a:solidFill>
            <a:ln w="12700"><a:solidFill><a:srgbClr val="1E4A3D"/></a:solidFill></a:ln>
          </p:spPr>
          <p:txBody>
            <a:bodyPr vert="horz" lIns="200000" tIns="160000" rIns="200000" bIns="160000" anchor="top"/>
            <a:lstStyle/>
            <a:p>
              <a:r>
                <a:rPr lang="en-US" sz="1050" b="1"><a:solidFill><a:srgbClr val="34D399"/></a:solidFill><a:latin typeface="JetBrains Mono"/></a:rPr>
                <a:t>PILLAR 02  •  EDGE VISION &amp; GEOMETRIC CALIBRATION</a:t>
              </a:r>
            </a:p>
            <a:p>
              <a:pPr spaceBefore="60000"/>
              <a:r>
                <a:rPr lang="en-US" sz="1400" b="1"><a:solidFill><a:srgbClr val="F4F3EE"/></a:solidFill><a:latin typeface="Space Grotesk"/></a:rPr>
                <a:t>100% On-Device Millimeter Font Calibration</a:t>
              </a:r>
            </a:p>
            <a:p>
              <a:pPr spaceBefore="60000"/>
              <a:r>
                <a:rPr lang="en-US" sz="1100"><a:solidFill><a:srgbClr val="BAC5BF"/></a:solidFill><a:latin typeface="Inter"/></a:rPr>
                <a:t>Executes client-side OCR without sending private consumer telemetry to third-party clouds. Implements camera perspective rectification and optical pixel-to-mm mapping against Principal Display Panel area.</a:t>
              </a:r>
            </a:p>
          </p:txBody>
        </p:sp>
        

        <p:sp>
          <p:nvSpPr><p:cNvPr id="14" name="Pillar3"/><p:cNvSpPr/><p:nvPr/></p:nvSpPr>
          <p:spPr>
            <a:xfrm><a:off x="5400000" y="4700000"/><a:ext cx="6192000" cy="1500000"/></a:xfrm>
            <a:prstGeom prst="rect"><a:avLst/></a:prstGeom>
            <a:solidFill><a:srgbClr val="081B16"/></a:solidFill>
            <a:ln w="12700"><a:solidFill><a:srgbClr val="1E4A3D"/></a:solidFill></a:ln>
          </p:spPr>
          <p:txBody>
            <a:bodyPr vert="horz" lIns="200000" tIns="160000" rIns="200000" bIns="160000" anchor="top"/>
            <a:lstStyle/>
            <a:p>
              <a:r>
                <a:rPr lang="en-US" sz="1050" b="1"><a:solidFill><a:srgbClr val="D97706"/></a:solidFill><a:latin typeface="JetBrains Mono"/></a:rPr>
                <a:t>PILLAR 03  •  FSSAI 2020 &amp; GLOBAL HARMONIZATION</a:t>
              </a:r>
            </a:p>
            <a:p>
              <a:pPr spaceBefore="60000"/>
              <a:r>
                <a:rPr lang="en-US" sz="1400" b="1"><a:solidFill><a:srgbClr val="F4F3EE"/></a:solidFill><a:latin typeface="Space Grotesk"/></a:rPr>
                <a:t>Personalized Medical Allergen &amp; Chemical Audit</a:t>
              </a:r>
            </a:p>
            <a:p>
              <a:pPr spaceBefore="60000"/>
              <a:r>
                <a:rPr lang="en-US" sz="1100"><a:solidFill><a:srgbClr val="BAC5BF"/></a:solidFill><a:latin typeface="Inter"/></a:rPr>
                <a:t>Evaluates 8 mandatory FSSAI food allergens and benchmarks harmful food additives against European Food Safety Authority (EFSA) bans (e.g., Titanium Dioxide E171 genotoxicity, Tartrazine hyperactivity).</a:t>
              </a:r>
            </a:p>
          </p:txBody>
        </p:sp>
        

        <!-- Footer -->
        <p:sp>
          <p:nvSpPr><p:cNvPr id="999" name="Footer"/><p:cNvSpPr/><p:nvPr/></p:nvSpPr>
          <p:spPr>
            <a:xfrm><a:off x="600000" y="6400000"/><a:ext cx="10992000" cy="220000"/></a:xfrm>
            <a:prstGeom prst="rect"><a:avLst/></a:prstGeom>
            <a:noFill/>
          </p:spPr>
          <p:txBody>
            <a:bodyPr vert="horz" lIns="0" tIns="0" rIns="0" bIns="0" anchor="ctr"/>
            <a:lstStyle/>
            <a:p>
              <a:r>
                <a:rPr lang="en-US" sz="950">
                  <a:solidFill><a:srgbClr val="758A82"/></a:solidFill>
                  <a:latin typeface="JetBrains Mono"/>
                </a:rPr>
                <a:t>SMART INDIA HACKATHON 2026  •  PROBLEM STATEMENT: SIH26034  •  MINISTRY OF CONSUMER AFFAIRS &amp; FSSAI</a:t>
              </a:r>
              <a:r>
                <a:rPr lang="en-US" sz="950" b="1">
                  <a:solidFill><a:srgbClr val="10B981"/></a:solidFill>
                  <a:latin typeface="JetBrains Mono"/>
                </a:rPr>
                <a:t>          [ SLIDE 01 / 06 ]</a:t>
              </a:r>
            </a:p>
          </p:txBody>
        </p:sp>
        
    </p:spTree>
  </p:cSld>
</p:sld>
</file>

<file path=ppt/slides/slide2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1" name=""/><p:cNvGrpSpPr/><p:nvPr/></p:nvSpPr>
      <p:grpSpPr><a:xfrm><a:off x="0" y="0"/><a:ext cx="0" cy="0"/><a:chOff x="0" y="0"/><a:chExt cx="0" cy="0"/></a:xfrm></p:grpSpPr>
      
        <!-- Header Badge -->
        <p:sp>
          <p:nvSpPr><p:cNvPr id="101" name="Badge"/><p:cNvSpPr/><p:nvPr/></p:nvSpPr>
          <p:spPr>
            <a:xfrm><a:off x="600000" y="400000"/><a:ext cx="10992000" cy="300000"/></a:xfrm>
            <a:prstGeom prst="rect"><a:avLst/></a:prstGeom>
            <a:solidFill><a:srgbClr val="0F2D25"/></a:solidFill>
            <a:ln w="9525"><a:solidFill><a:srgbClr val="1E4A3D"/></a:solidFill></a:ln>
          </p:spPr>
          <p:txBody>
            <a:bodyPr vert="horz" lIns="100000" tIns="40000" rIns="100000" bIns="40000" anchor="ctr"/>
            <a:lstStyle/>
            <a:p>
              <a:r>
                <a:rPr lang="en-US" sz="1050" b="1">
                  <a:solidFill><a:srgbClr val="10B981"/></a:solidFill>
                  <a:latin typeface="JetBrains Mono"/>
                </a:rPr>
                <a:t>• SIH26034  •  PROPOSED SOLUTION & DUAL-RULE INNOVATION</a:t>
              </a:r>
              <a:r>
                <a:rPr lang="en-US" sz="1050">
                  <a:solidFill><a:srgbClr val="758A82"/></a:solidFill>
                  <a:latin typeface="JetBrains Mono"/>
                </a:rPr>
                <a:t>  |  PACKSCAN REGULATORY ENGINE  |  OFFICIAL SIH DECK</a:t>
              </a:r>
            </a:p>
          </p:txBody>
        </p:sp>

        <!-- Slide Title -->
        <p:sp>
          <p:nvSpPr><p:cNvPr id="102" name="Title"/><p:cNvSpPr/><p:nvPr/></p:nvSpPr>
          <p:spPr>
            <a:xfrm><a:off x="600000" y="760000"/><a:ext cx="10992000" cy="650000"/></a:xfrm>
            <a:prstGeom prst="rect"><a:avLst/></a:prstGeom>
            <a:noFill/>
          </p:spPr>
          <p:txBody>
            <a:bodyPr vert="horz" lIns="0" tIns="0" rIns="0" bIns="0" anchor="top"/>
            <a:lstStyle/>
            <a:p>
              <a:r>
                <a:rPr lang="en-US" sz="2200" b="1">
                  <a:solidFill><a:srgbClr val="F4F3EE"/></a:solidFill>
                  <a:latin typeface="Space Grotesk"/>
                </a:rPr>
                <a:t>Dual-Framework Statutory Compliance & Personal Health Safety</a:t>
              </a:r>
            </a:p>
            <a:p><a:r><a:rPr lang='en-US' sz='1150' i='1'><a:solidFill><a:srgbClr val='BAC5BF'/></a:solidFill><a:latin typeface='Inter'/></a:rPr><a:t>Unifying Metrology Inspection and FSSAI Nutritional Health into a Single 3-Second Edge Scan</a:t></a:r></a:p>
          </p:txBody>
        </p:sp>
        

        <p:sp>
          <p:nvSpPr><p:cNvPr id="21" name="Framework1"/><p:cNvSpPr/><p:nvPr/></p:nvSpPr>
          <p:spPr>
            <a:xfrm><a:off x="600000" y="1600000"/><a:ext cx="5350000" cy="4600000"/></a:xfrm>
            <a:prstGeom prst="rect"><a:avLst/></a:prstGeom>
            <a:solidFill><a:srgbClr val="081B16"/></a:solidFill>
            <a:ln w="15875"><a:solidFill><a:srgbClr val="10B981"/></a:solidFill></a:ln>
          </p:spPr>
          <p:txBody>
            <a:bodyPr vert="horz" lIns="250000" tIns="220000" rIns="250000" bIns="220000" anchor="top"/>
            <a:lstStyle/>
            <a:p>
              <a:r>
                <a:rPr lang="en-US" sz="1050" b="1"><a:solidFill><a:srgbClr val="10B981"/></a:solidFill><a:latin typeface="JetBrains Mono"/></a:rPr>
                <a:t>STATUTORY FRAMEWORK 01</a:t>
              </a:r>
            </a:p>
            <a:p>
              <a:pPr spaceBefore="60000"/>
              <a:r>
                <a:rPr lang="en-US" sz="1600" b="1"><a:solidFill><a:srgbClr val="F4F3EE"/></a:solidFill><a:latin typeface="Space Grotesk"/></a:rPr>
                <a:t>Legal Metrology (PC) Rules, 2011</a:t>
              </a:r>
            </a:p>
            <a:p>
              <a:pPr spaceBefore="120000"/>
              <a:r>
                <a:rPr lang="en-US" sz="1100" b="1"><a:solidFill><a:srgbClr val="34D399"/></a:solidFill><a:latin typeface="JetBrains Mono"/></a:rPr>
                <a:t>1. Rule 6(1) Mandatory Declarations Audit:</a:t>
              </a:r>
            </a:p>
            <a:p>
              <a:pPr spaceBefore="40000" marL="180000" indent="-180000"/>
              <a:r>
                <a:rPr lang="en-US" sz="1050"><a:solidFill><a:srgbClr val="BAC5BF"/></a:solidFill><a:latin typeface="Inter"/></a:rPr>
                <a:t>• Name &amp; complete address of Manufacturer / Packer / Importer.</a:t>
              </a:r>
            </a:p>
            <a:p>
              <a:pPr spaceBefore="40000" marL="180000" indent="-180000"/>
              <a:r>
                <a:rPr lang="en-US" sz="1050"><a:solidFill><a:srgbClr val="BAC5BF"/></a:solidFill><a:latin typeface="Inter"/></a:rPr>
                <a:t>• Common generic commodity name &amp; Country of Origin.</a:t>
              </a:r>
            </a:p>
            <a:p>
              <a:pPr spaceBefore="40000" marL="180000" indent="-180000"/>
              <a:r>
                <a:rPr lang="en-US" sz="1050"><a:solidFill><a:srgbClr val="BAC5BF"/></a:solidFill><a:latin typeface="Inter"/></a:rPr>
                <a:t>• Net Quantity in standard metric units (g, kg, mL, L).</a:t>
              </a:r>
            </a:p>
            <a:p>
              <a:pPr spaceBefore="40000" marL="180000" indent="-180000"/>
              <a:r>
                <a:rPr lang="en-US" sz="1050"><a:solidFill><a:srgbClr val="BAC5BF"/></a:solidFill><a:latin typeface="Inter"/></a:rPr>
                <a:t>• Month &amp; Year of manufacture/packing &amp; Best Before date.</a:t>
              </a:r>
            </a:p>
            <a:p>
              <a:pPr spaceBefore="40000" marL="180000" indent="-180000"/>
              <a:r>
                <a:rPr lang="en-US" sz="1050"><a:solidFill><a:srgbClr val="BAC5BF"/></a:solidFill><a:latin typeface="Inter"/></a:rPr>
                <a:t>• Maximum Retail Price (MRP) 'inclusive of all taxes'.</a:t>
              </a:r>
            </a:p>
            <a:p>
              <a:pPr spaceBefore="40000" marL="180000" indent="-180000"/>
              <a:r>
                <a:rPr lang="en-US" sz="1050"><a:solidFill><a:srgbClr val="BAC5BF"/></a:solidFill><a:latin typeface="Inter"/></a:rPr>
                <a:t>• Consumer Care cell: Phone, email, and named grievance officer.</a:t>
              </a:r>
            </a:p>
            <a:p>
              <a:pPr spaceBefore="120000"/>
              <a:r>
                <a:rPr lang="en-US" sz="1100" b="1"><a:solidFill><a:srgbClr val="34D399"/></a:solidFill><a:latin typeface="JetBrains Mono"/></a:rPr>
                <a:t>2. Rule 9 Table I Minimum Height Verification:</a:t>
              </a:r>
            </a:p>
            <a:p>
              <a:pPr spaceBefore="40000"/>
              <a:r>
                <a:rPr lang="en-US" sz="1050"><a:solidFill><a:srgbClr val="BAC5BF"/></a:solidFill><a:latin typeface="Inter"/></a:rPr>
                <a:t>Dynamically computes Principal Display Panel (PDP) surface area. Flags fonts below 1.0mm, 2.0mm, 4.0mm, or 6.0mm statutory thresholds using focal pixel-to-mm ratio.</a:t>
              </a:r>
            </a:p>
            <a:p>
              <a:pPr spaceBefore="120000"/>
              <a:r>
                <a:rPr lang="en-US" sz="1100" b="1"><a:solidFill><a:srgbClr val="34D399"/></a:solidFill><a:latin typeface="JetBrains Mono"/></a:rPr>
                <a:t>3. Section 36 Penalty Notice Compilation:</a:t>
              </a:r>
            </a:p>
            <a:p>
              <a:pPr spaceBefore="40000"/>
              <a:r>
                <a:rPr lang="en-US" sz="1050"><a:solidFill><a:srgbClr val="BAC5BF"/></a:solidFill><a:latin typeface="Inter"/></a:rPr>
                <a:t>Auto-formats compounding penalty show-cause notices for Legal Metrology Officers under Section 36(1) and 36(2) of the Act.</a:t>
              </a:r>
            </a:p>
          </p:txBody>
        </p:sp>
        

        <p:sp>
          <p:nvSpPr><p:cNvPr id="22" name="Framework2"/><p:cNvSpPr/><p:nvPr/></p:nvSpPr>
          <p:spPr>
            <a:xfrm><a:off x="6250000" y="1600000"/><a:ext cx="5350000" cy="4600000"/></a:xfrm>
            <a:prstGeom prst="rect"><a:avLst/></a:prstGeom>
            <a:solidFill><a:srgbClr val="081B16"/></a:solidFill>
            <a:ln w="15875"><a:solidFill><a:srgbClr val="D97706"/></a:solidFill></a:ln>
          </p:spPr>
          <p:txBody>
            <a:bodyPr vert="horz" lIns="250000" tIns="220000" rIns="250000" bIns="220000" anchor="top"/>
            <a:lstStyle/>
            <a:p>
              <a:r>
                <a:rPr lang="en-US" sz="1050" b="1"><a:solidFill><a:srgbClr val="D97706"/></a:solidFill><a:latin typeface="JetBrains Mono"/></a:rPr>
                <a:t>STATUTORY FRAMEWORK 02</a:t>
              </a:r>
            </a:p>
            <a:p>
              <a:pPr spaceBefore="60000"/>
              <a:r>
                <a:rPr lang="en-US" sz="1600" b="1"><a:solidFill><a:srgbClr val="F4F3EE"/></a:solidFill><a:latin typeface="Space Grotesk"/></a:rPr>
                <a:t>FSSAI Food Safety Regulations, 2020</a:t>
              </a:r>
            </a:p>
            <a:p>
              <a:pPr spaceBefore="120000"/>
              <a:r>
                <a:rPr lang="en-US" sz="1100" b="1"><a:solidFill><a:srgbClr val="D97706"/></a:solidFill><a:latin typeface="JetBrains Mono"/></a:rPr>
                <a:t>1. 8 Mandatory Allergen Class Cross-Checking:</a:t>
              </a:r>
            </a:p>
            <a:p>
              <a:pPr spaceBefore="40000" marL="180000" indent="-180000"/>
              <a:r>
                <a:rPr lang="en-US" sz="1050"><a:solidFill><a:srgbClr val="BAC5BF"/></a:solidFill><a:latin typeface="Inter"/></a:rPr>
                <a:t>• Cereals containing Gluten, Crustaceans, Fish, Eggs.</a:t>
              </a:r>
            </a:p>
            <a:p>
              <a:pPr spaceBefore="40000" marL="180000" indent="-180000"/>
              <a:r>
                <a:rPr lang="en-US" sz="1050"><a:solidFill><a:srgbClr val="BAC5BF"/></a:solidFill><a:latin typeface="Inter"/></a:rPr>
                <a:t>• Peanuts, Soybeans, Milk &amp; Dairy, Tree nuts.</a:t>
              </a:r>
            </a:p>
            <a:p>
              <a:pPr spaceBefore="40000" marL="180000" indent="-180000"/>
              <a:r>
                <a:rPr lang="en-US" sz="1050"><a:solidFill><a:srgbClr val="BAC5BF"/></a:solidFill><a:latin typeface="Inter"/></a:rPr>
                <a:t>• Multi-alias synonym parsing (e.g. casein, whey, semolina).</a:t>
              </a:r>
            </a:p>
            <a:p>
              <a:pPr spaceBefore="120000"/>
              <a:r>
                <a:rPr lang="en-US" sz="1100" b="1"><a:solidFill><a:srgbClr val="D97706"/></a:solidFill><a:latin typeface="JetBrains Mono"/></a:rPr>
                <a:t>2. Clinical Nutrient Profile &amp; % RDA Limits:</a:t>
              </a:r>
            </a:p>
            <a:p>
              <a:pPr spaceBefore="40000" marL="180000" indent="-180000"/>
              <a:r>
                <a:rPr lang="en-US" sz="1050"><a:solidFill><a:srgbClr val="BAC5BF"/></a:solidFill><a:latin typeface="Inter"/></a:rPr>
                <a:t>• Added Sugars &gt; 10% total energy (flags hidden dextrin/sucrose).</a:t>
              </a:r>
            </a:p>
            <a:p>
              <a:pPr spaceBefore="40000" marL="180000" indent="-180000"/>
              <a:r>
                <a:rPr lang="en-US" sz="1050"><a:solidFill><a:srgbClr val="BAC5BF"/></a:solidFill><a:latin typeface="Inter"/></a:rPr>
                <a:t>• Saturated Fat &gt; 22g/100g &amp; Sodium &gt; 600mg/100g thresholds.</a:t>
              </a:r>
            </a:p>
            <a:p>
              <a:pPr spaceBefore="40000" marL="180000" indent="-180000"/>
              <a:r>
                <a:rPr lang="en-US" sz="1050"><a:solidFill><a:srgbClr val="BAC5BF"/></a:solidFill><a:latin typeface="Inter"/></a:rPr>
                <a:t>• Real-time tailoring to user chronic conditions (Type 2 Diabetes, Hypertension, Celiac, Coronary Artery Disease).</a:t>
              </a:r>
            </a:p>
            <a:p>
              <a:pPr spaceBefore="120000"/>
              <a:r>
                <a:rPr lang="en-US" sz="1100" b="1"><a:solidFill><a:srgbClr val="D97706"/></a:solidFill><a:latin typeface="JetBrains Mono"/></a:rPr>
                <a:t>3. Cross-Border International Additive Surveillance:</a:t>
              </a:r>
            </a:p>
            <a:p>
              <a:pPr spaceBefore="40000"/>
              <a:r>
                <a:rPr lang="en-US" sz="1050"><a:solidFill><a:srgbClr val="BAC5BF"/></a:solidFill><a:latin typeface="Inter"/></a:rPr>
                <a:t>Flags hazardous additives banned under EFSA (EU) and US FDA rules, eliminating regulatory dumping in domestic consumer food chains.</a:t>
              </a:r>
            </a:p>
          </p:txBody>
        </p:sp>
        

        <!-- Footer -->
        <p:sp>
          <p:nvSpPr><p:cNvPr id="999" name="Footer"/><p:cNvSpPr/><p:nvPr/></p:nvSpPr>
          <p:spPr>
            <a:xfrm><a:off x="600000" y="6400000"/><a:ext cx="10992000" cy="220000"/></a:xfrm>
            <a:prstGeom prst="rect"><a:avLst/></a:prstGeom>
            <a:noFill/>
          </p:spPr>
          <p:txBody>
            <a:bodyPr vert="horz" lIns="0" tIns="0" rIns="0" bIns="0" anchor="ctr"/>
            <a:lstStyle/>
            <a:p>
              <a:r>
                <a:rPr lang="en-US" sz="950">
                  <a:solidFill><a:srgbClr val="758A82"/></a:solidFill>
                  <a:latin typeface="JetBrains Mono"/>
                </a:rPr>
                <a:t>SMART INDIA HACKATHON 2026  •  PROBLEM STATEMENT: SIH26034  •  MINISTRY OF CONSUMER AFFAIRS &amp; FSSAI</a:t>
              </a:r>
              <a:r>
                <a:rPr lang="en-US" sz="950" b="1">
                  <a:solidFill><a:srgbClr val="10B981"/></a:solidFill>
                  <a:latin typeface="JetBrains Mono"/>
                </a:rPr>
                <a:t>          [ SLIDE 02 / 06 ]</a:t>
              </a:r>
            </a:p>
          </p:txBody>
        </p:sp>
        
    </p:spTree>
  </p:cSld>
</p:sld>
</file>

<file path=ppt/slides/slide3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1" name=""/><p:cNvGrpSpPr/><p:nvPr/></p:nvSpPr>
      <p:grpSpPr><a:xfrm><a:off x="0" y="0"/><a:ext cx="0" cy="0"/><a:chOff x="0" y="0"/><a:chExt cx="0" cy="0"/></a:xfrm></p:grpSpPr>
      
        <!-- Header Badge -->
        <p:sp>
          <p:nvSpPr><p:cNvPr id="101" name="Badge"/><p:cNvSpPr/><p:nvPr/></p:nvSpPr>
          <p:spPr>
            <a:xfrm><a:off x="600000" y="400000"/><a:ext cx="10992000" cy="300000"/></a:xfrm>
            <a:prstGeom prst="rect"><a:avLst/></a:prstGeom>
            <a:solidFill><a:srgbClr val="0F2D25"/></a:solidFill>
            <a:ln w="9525"><a:solidFill><a:srgbClr val="1E4A3D"/></a:solidFill></a:ln>
          </p:spPr>
          <p:txBody>
            <a:bodyPr vert="horz" lIns="100000" tIns="40000" rIns="100000" bIns="40000" anchor="ctr"/>
            <a:lstStyle/>
            <a:p>
              <a:r>
                <a:rPr lang="en-US" sz="1050" b="1">
                  <a:solidFill><a:srgbClr val="10B981"/></a:solidFill>
                  <a:latin typeface="JetBrains Mono"/>
                </a:rPr>
                <a:t>• SIH26034  •  TECHNICAL ARCHITECTURE & PIPELINE</a:t>
              </a:r>
              <a:r>
                <a:rPr lang="en-US" sz="1050">
                  <a:solidFill><a:srgbClr val="758A82"/></a:solidFill>
                  <a:latin typeface="JetBrains Mono"/>
                </a:rPr>
                <a:t>  |  PACKSCAN REGULATORY ENGINE  |  OFFICIAL SIH DECK</a:t>
              </a:r>
            </a:p>
          </p:txBody>
        </p:sp>

        <!-- Slide Title -->
        <p:sp>
          <p:nvSpPr><p:cNvPr id="102" name="Title"/><p:cNvSpPr/><p:nvPr/></p:nvSpPr>
          <p:spPr>
            <a:xfrm><a:off x="600000" y="760000"/><a:ext cx="10992000" cy="650000"/></a:xfrm>
            <a:prstGeom prst="rect"><a:avLst/></a:prstGeom>
            <a:noFill/>
          </p:spPr>
          <p:txBody>
            <a:bodyPr vert="horz" lIns="0" tIns="0" rIns="0" bIns="0" anchor="top"/>
            <a:lstStyle/>
            <a:p>
              <a:r>
                <a:rPr lang="en-US" sz="2200" b="1">
                  <a:solidFill><a:srgbClr val="F4F3EE"/></a:solidFill>
                  <a:latin typeface="Space Grotesk"/>
                </a:rPr>
                <a:t>4-Stage On-Device Computer Vision & Legal Reasoning Engine</a:t>
              </a:r>
            </a:p>
            <a:p><a:r><a:rPr lang='en-US' sz='1150' i='1'><a:solidFill><a:srgbClr val='BAC5BF'/></a:solidFill><a:latin typeface='Inter'/></a:rPr><a:t>Deterministic Statutory Evaluation without Latency Bottlenecks or Cloud Privacy Compromises</a:t></a:r></a:p>
          </p:txBody>
        </p:sp>
        

        <p:sp>
          <p:nvSpPr><p:cNvPr id="31" name="Stage1"/><p:cNvSpPr/><p:nvPr/></p:nvSpPr>
          <p:spPr>
            <a:xfrm><a:off x="600000" y="1600000"/><a:ext cx="2600000" cy="3800000"/></a:xfrm>
            <a:prstGeom prst="rect"><a:avLst/></a:prstGeom>
            <a:solidFill><a:srgbClr val="081B16"/></a:solidFill>
            <a:ln w="12700"><a:solidFill><a:srgbClr val="1E4A3D"/></a:solidFill></a:ln>
          </p:spPr>
          <p:txBody>
            <a:bodyPr vert="horz" lIns="180000" tIns="180000" rIns="180000" bIns="180000" anchor="top"/>
            <a:lstStyle/>
            <a:p>
              <a:r>
                <a:rPr lang="en-US" sz="1000" b="1"><a:solidFill><a:srgbClr val="10B981"/></a:solidFill><a:latin typeface="JetBrains Mono"/></a:rPr>
                <a:t>STAGE 01  •  0.4s</a:t>
              </a:r>
            </a:p>
            <a:p>
              <a:pPr spaceBefore="60000"/>
              <a:r>
                <a:rPr lang="en-US" sz="1400" b="1"><a:solidFill><a:srgbClr val="F4F3EE"/></a:solidFill><a:latin typeface="Space Grotesk"/></a:rPr>
                <a:t>Camera Ingestion &amp; Rectification</a:t>
              </a:r>
            </a:p>
            <a:p>
              <a:pPr spaceBefore="100000"/>
              <a:r>
                <a:rPr lang="en-US" sz="1050"><a:solidFill><a:srgbClr val="BAC5BF"/></a:solidFill><a:latin typeface="Inter"/></a:rPr>
                <a:t>• 1080p/4K Camera Frame Buffer Capture.</a:t>
              </a:r>
            </a:p>
            <a:p>
              <a:pPr spaceBefore="60000"/>
              <a:r>
                <a:rPr lang="en-US" sz="1050"><a:solidFill><a:srgbClr val="BAC5BF"/></a:solidFill><a:latin typeface="Inter"/></a:rPr>
                <a:t>• CLAHE Adaptive Contrast Enhancement for glare suppression.</a:t>
              </a:r>
            </a:p>
            <a:p>
              <a:pPr spaceBefore="60000"/>
              <a:r>
                <a:rPr lang="en-US" sz="1050"><a:solidFill><a:srgbClr val="BAC5BF"/></a:solidFill><a:latin typeface="Inter"/></a:rPr>
                <a:t>• Packaging Boundary Corner Detection &amp; Homography Dewarping.</a:t>
              </a:r>
            </a:p>
            <a:p>
              <a:pPr spaceBefore="60000"/>
              <a:r>
                <a:rPr lang="en-US" sz="1050"><a:solidFill><a:srgbClr val="BAC5BF"/></a:solidFill><a:latin typeface="Inter"/></a:rPr>
                <a:t>• Principal Display Panel (PDP) Surface Area Calculation.</a:t>
              </a:r>
            </a:p>
          </p:txBody>
        </p:sp>
        

        <p:sp>
          <p:nvSpPr><p:cNvPr id="32" name="Stage2"/><p:cNvSpPr/><p:nvPr/></p:nvSpPr>
          <p:spPr>
            <a:xfrm><a:off x="3400000" y="1600000"/><a:ext cx="2600000" cy="3800000"/></a:xfrm>
            <a:prstGeom prst="rect"><a:avLst/></a:prstGeom>
            <a:solidFill><a:srgbClr val="081B16"/></a:solidFill>
            <a:ln w="12700"><a:solidFill><a:srgbClr val="1E4A3D"/></a:solidFill></a:ln>
          </p:spPr>
          <p:txBody>
            <a:bodyPr vert="horz" lIns="180000" tIns="180000" rIns="180000" bIns="180000" anchor="top"/>
            <a:lstStyle/>
            <a:p>
              <a:r>
                <a:rPr lang="en-US" sz="1000" b="1"><a:solidFill><a:srgbClr val="34D399"/></a:solidFill><a:latin typeface="JetBrains Mono"/></a:rPr>
                <a:t>STAGE 02  •  0.8s</a:t>
              </a:r>
            </a:p>
            <a:p>
              <a:pPr spaceBefore="60000"/>
              <a:r>
                <a:rPr lang="en-US" sz="1400" b="1"><a:solidFill><a:srgbClr val="F4F3EE"/></a:solidFill><a:latin typeface="Space Grotesk"/></a:rPr>
                <a:t>Edge OCR &amp; Font Height Telemetry</a:t>
              </a:r>
            </a:p>
            <a:p>
              <a:pPr spaceBefore="100000"/>
              <a:r>
                <a:rPr lang="en-US" sz="1050"><a:solidFill><a:srgbClr val="BAC5BF"/></a:solidFill><a:latin typeface="Inter"/></a:rPr>
                <a:t>• Neural Character Segmentation &amp; Bounding Box Extraction.</a:t>
              </a:r>
            </a:p>
            <a:p>
              <a:pPr spaceBefore="60000"/>
              <a:r>
                <a:rPr lang="en-US" sz="1050"><a:solidFill><a:srgbClr val="BAC5BF"/></a:solidFill><a:latin typeface="Inter"/></a:rPr>
                <a:t>• Geometric x-height &amp; cap-height letter isolation.</a:t>
              </a:r>
            </a:p>
            <a:p>
              <a:pPr spaceBefore="60000"/>
              <a:r>
                <a:rPr lang="en-US" sz="1050"><a:solidFill><a:srgbClr val="BAC5BF"/></a:solidFill><a:latin typeface="Inter"/></a:rPr>
                <a:t>• Optical Pixel-to-mm Focal Calibration Mapping.</a:t>
              </a:r>
            </a:p>
            <a:p>
              <a:pPr spaceBefore="60000"/>
              <a:r>
                <a:rPr lang="en-US" sz="1050"><a:solidFill><a:srgbClr val="BAC5BF"/></a:solidFill><a:latin typeface="Inter"/></a:rPr>
                <a:t>• Direct comparison against Rule 9 Table I statutory minimums.</a:t>
              </a:r>
            </a:p>
          </p:txBody>
        </p:sp>
        

        <p:sp>
          <p:nvSpPr><p:cNvPr id="33" name="Stage3"/><p:cNvSpPr/><p:nvPr/></p:nvSpPr>
          <p:spPr>
            <a:xfrm><a:off x="6200000" y="1600000"/><a:ext cx="2600000" cy="3800000"/></a:xfrm>
            <a:prstGeom prst="rect"><a:avLst/></a:prstGeom>
            <a:solidFill><a:srgbClr val="081B16"/></a:solidFill>
            <a:ln w="12700"><a:solidFill><a:srgbClr val="1E4A3D"/></a:solidFill></a:ln>
          </p:spPr>
          <p:txBody>
            <a:bodyPr vert="horz" lIns="180000" tIns="180000" rIns="180000" bIns="180000" anchor="top"/>
            <a:lstStyle/>
            <a:p>
              <a:r>
                <a:rPr lang="en-US" sz="1000" b="1"><a:solidFill><a:srgbClr val="D97706"/></a:solidFill><a:latin typeface="JetBrains Mono"/></a:rPr>
                <a:t>STAGE 03  •  1.1s</a:t>
              </a:r>
            </a:p>
            <a:p>
              <a:pPr spaceBefore="60000"/>
              <a:r>
                <a:rPr lang="en-US" sz="1400" b="1"><a:solidFill><a:srgbClr val="F4F3EE"/></a:solidFill><a:latin typeface="Space Grotesk"/></a:rPr>
                <a:t>Dual-Rule Engine &amp; Vector Matching</a:t>
              </a:r>
            </a:p>
            <a:p>
              <a:pPr spaceBefore="100000"/>
              <a:r>
                <a:rPr lang="en-US" sz="1050"><a:solidFill><a:srgbClr val="BAC5BF"/></a:solidFill><a:latin typeface="Inter"/></a:rPr>
                <a:t>• Rule 6 Clause-by-Clause Regex &amp; Semantic Parser.</a:t>
              </a:r>
            </a:p>
            <a:p>
              <a:pPr spaceBefore="60000"/>
              <a:r>
                <a:rPr lang="en-US" sz="1050"><a:solidFill><a:srgbClr val="BAC5BF"/></a:solidFill><a:latin typeface="Inter"/></a:rPr>
                <a:t>• FSSAI Allergen Cross-Reference (1,400+ botanical/chemical synonyms).</a:t>
              </a:r>
            </a:p>
            <a:p>
              <a:pPr spaceBefore="60000"/>
              <a:r>
                <a:rPr lang="en-US" sz="1050"><a:solidFill><a:srgbClr val="BAC5BF"/></a:solidFill><a:latin typeface="Inter"/></a:rPr>
                <a:t>• Chronic Disease Nutrition Threshold Validator (% RDA calculation).</a:t>
              </a:r>
            </a:p>
            <a:p>
              <a:pPr spaceBefore="60000"/>
              <a:r>
                <a:rPr lang="en-US" sz="1050"><a:solidFill><a:srgbClr val="BAC5BF"/></a:solidFill><a:latin typeface="Inter"/></a:rPr>
                <a:t>• Multi-Jurisdiction Additive Banned Status Vector Lookup.</a:t>
              </a:r>
            </a:p>
          </p:txBody>
        </p:sp>
        

        <p:sp>
          <p:nvSpPr><p:cNvPr id="34" name="Stage4"/><p:cNvSpPr/><p:nvPr/></p:nvSpPr>
          <p:spPr>
            <a:xfrm><a:off x="9000000" y="1600000"/><a:ext cx="2600000" cy="3800000"/></a:xfrm>
            <a:prstGeom prst="rect"><a:avLst/></a:prstGeom>
            <a:solidFill><a:srgbClr val="081B16"/></a:solidFill>
            <a:ln w="12700"><a:solidFill><a:srgbClr val="1E4A3D"/></a:solidFill></a:ln>
          </p:spPr>
          <p:txBody>
            <a:bodyPr vert="horz" lIns="180000" tIns="180000" rIns="180000" bIns="180000" anchor="top"/>
            <a:lstStyle/>
            <a:p>
              <a:r>
                <a:rPr lang="en-US" sz="1000" b="1"><a:solidFill><a:srgbClr val="B8532F"/></a:solidFill><a:latin typeface="JetBrains Mono"/></a:rPr>
                <a:t>STAGE 04  •  0.5s</a:t>
              </a:r>
            </a:p>
            <a:p>
              <a:pPr spaceBefore="60000"/>
              <a:r>
                <a:rPr lang="en-US" sz="1400" b="1"><a:solidFill><a:srgbClr val="F4F3EE"/></a:solidFill><a:latin typeface="Space Grotesk"/></a:rPr>
                <a:t>Enforcement Export &amp; Health Ledger</a:t>
              </a:r>
            </a:p>
            <a:p>
              <a:pPr spaceBefore="100000"/>
              <a:r>
                <a:rPr lang="en-US" sz="1050"><a:solidFill><a:srgbClr val="BAC5BF"/></a:solidFill><a:latin typeface="Inter"/></a:rPr>
                <a:t>• Color-coded UI telemetry (Parchment, Emerald, Amber, Crimson).</a:t>
              </a:r>
            </a:p>
            <a:p>
              <a:pPr spaceBefore="60000"/>
              <a:r>
                <a:rPr lang="en-US" sz="1050"><a:solidFill><a:srgbClr val="BAC5BF"/></a:solidFill><a:latin typeface="Inter"/></a:rPr>
                <a:t>• Section 36 PDF Penalty Legal Notice Compilation.</a:t>
              </a:r>
            </a:p>
            <a:p>
              <a:pPr spaceBefore="60000"/>
              <a:r>
                <a:rPr lang="en-US" sz="1050"><a:solidFill><a:srgbClr val="BAC5BF"/></a:solidFill><a:latin typeface="Inter"/></a:rPr>
                <a:t>• Local Encrypted Health Ledger logging for personal tracking.</a:t>
              </a:r>
            </a:p>
            <a:p>
              <a:pPr spaceBefore="60000"/>
              <a:r>
                <a:rPr lang="en-US" sz="1050"><a:solidFill><a:srgbClr val="BAC5BF"/></a:solidFill><a:latin typeface="Inter"/></a:rPr>
                <a:t>• Offline sync queue with automatic cloud reconciliation.</a:t>
              </a:r>
            </a:p>
          </p:txBody>
        </p:sp>
        

        <p:sp>
          <p:nvSpPr><p:cNvPr id="35" name="TechSpecs"/><p:cNvSpPr/><p:nvPr/></p:nvSpPr>
          <p:spPr>
            <a:xfrm><a:off x="600000" y="5550000"/><a:ext cx="11000000" cy="700000"/></a:xfrm>
            <a:prstGeom prst="rect"><a:avLst/></a:prstGeom>
            <a:solidFill><a:srgbClr val="0F2D25"/></a:solidFill>
            <a:ln w="12700"><a:solidFill><a:srgbClr val="1E4A3D"/></a:solidFill></a:ln>
          </p:spPr>
          <p:txBody>
            <a:bodyPr vert="horz" lIns="200000" tIns="120000" rIns="200000" bIns="120000" anchor="ctr"/>
            <a:lstStyle/>
            <a:p>
              <a:r>
                <a:rPr lang="en-US" sz="1100" b="1"><a:solidFill><a:srgbClr val="10B981"/></a:solidFill><a:latin typeface="JetBrains Mono"/></a:rPr>
                <a:t>PRODUCTION PERFORMANCE BENCHMARKS: </a:t>
              </a:r>
              <a:r>
                <a:rPr lang="en-US" sz="1050"><a:solidFill><a:srgbClr val="F4F3EE"/></a:solidFill><a:latin typeface="JetBrains Mono"/></a:rPr>
                <a:t>Total End-to-End Latency: 2.8s  |  On-Device OCR Accuracy: 96.4%  |  Zero Cloud Latency in Offline Mode  |  Target Hardware: Standard Android/iOS Smartphones</a:t>
              </a:r>
            </a:p>
          </p:txBody>
        </p:sp>
        

        <!-- Footer -->
        <p:sp>
          <p:nvSpPr><p:cNvPr id="999" name="Footer"/><p:cNvSpPr/><p:nvPr/></p:nvSpPr>
          <p:spPr>
            <a:xfrm><a:off x="600000" y="6400000"/><a:ext cx="10992000" cy="220000"/></a:xfrm>
            <a:prstGeom prst="rect"><a:avLst/></a:prstGeom>
            <a:noFill/>
          </p:spPr>
          <p:txBody>
            <a:bodyPr vert="horz" lIns="0" tIns="0" rIns="0" bIns="0" anchor="ctr"/>
            <a:lstStyle/>
            <a:p>
              <a:r>
                <a:rPr lang="en-US" sz="950">
                  <a:solidFill><a:srgbClr val="758A82"/></a:solidFill>
                  <a:latin typeface="JetBrains Mono"/>
                </a:rPr>
                <a:t>SMART INDIA HACKATHON 2026  •  PROBLEM STATEMENT: SIH26034  •  MINISTRY OF CONSUMER AFFAIRS &amp; FSSAI</a:t>
              </a:r>
              <a:r>
                <a:rPr lang="en-US" sz="950" b="1">
                  <a:solidFill><a:srgbClr val="10B981"/></a:solidFill>
                  <a:latin typeface="JetBrains Mono"/>
                </a:rPr>
                <a:t>          [ SLIDE 03 / 06 ]</a:t>
              </a:r>
            </a:p>
          </p:txBody>
        </p:sp>
        
    </p:spTree>
  </p:cSld>
</p:sld>
</file>

<file path=ppt/slides/slide4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1" name=""/><p:cNvGrpSpPr/><p:nvPr/></p:nvSpPr>
      <p:grpSpPr><a:xfrm><a:off x="0" y="0"/><a:ext cx="0" cy="0"/><a:chOff x="0" y="0"/><a:chExt cx="0" cy="0"/></a:xfrm></p:grpSpPr>
      
        <!-- Header Badge -->
        <p:sp>
          <p:nvSpPr><p:cNvPr id="101" name="Badge"/><p:cNvSpPr/><p:nvPr/></p:nvSpPr>
          <p:spPr>
            <a:xfrm><a:off x="600000" y="400000"/><a:ext cx="10992000" cy="300000"/></a:xfrm>
            <a:prstGeom prst="rect"><a:avLst/></a:prstGeom>
            <a:solidFill><a:srgbClr val="0F2D25"/></a:solidFill>
            <a:ln w="9525"><a:solidFill><a:srgbClr val="1E4A3D"/></a:solidFill></a:ln>
          </p:spPr>
          <p:txBody>
            <a:bodyPr vert="horz" lIns="100000" tIns="40000" rIns="100000" bIns="40000" anchor="ctr"/>
            <a:lstStyle/>
            <a:p>
              <a:r>
                <a:rPr lang="en-US" sz="1050" b="1">
                  <a:solidFill><a:srgbClr val="10B981"/></a:solidFill>
                  <a:latin typeface="JetBrains Mono"/>
                </a:rPr>
                <a:t>• SIH26034  •  FEASIBILITY, EDGE CASES & LEAN CANVAS</a:t>
              </a:r>
              <a:r>
                <a:rPr lang="en-US" sz="1050">
                  <a:solidFill><a:srgbClr val="758A82"/></a:solidFill>
                  <a:latin typeface="JetBrains Mono"/>
                </a:rPr>
                <a:t>  |  PACKSCAN REGULATORY ENGINE  |  OFFICIAL SIH DECK</a:t>
              </a:r>
            </a:p>
          </p:txBody>
        </p:sp>

        <!-- Slide Title -->
        <p:sp>
          <p:nvSpPr><p:cNvPr id="102" name="Title"/><p:cNvSpPr/><p:nvPr/></p:nvSpPr>
          <p:spPr>
            <a:xfrm><a:off x="600000" y="760000"/><a:ext cx="10992000" cy="650000"/></a:xfrm>
            <a:prstGeom prst="rect"><a:avLst/></a:prstGeom>
            <a:noFill/>
          </p:spPr>
          <p:txBody>
            <a:bodyPr vert="horz" lIns="0" tIns="0" rIns="0" bIns="0" anchor="top"/>
            <a:lstStyle/>
            <a:p>
              <a:r>
                <a:rPr lang="en-US" sz="2200" b="1">
                  <a:solidFill><a:srgbClr val="F4F3EE"/></a:solidFill>
                  <a:latin typeface="Space Grotesk"/>
                </a:rPr>
                <a:t>Engineering Robustness & Operational Viability Matrix</a:t>
              </a:r>
            </a:p>
            <a:p><a:r><a:rPr lang='en-US' sz='1150' i='1'><a:solidFill><a:srgbClr val='BAC5BF'/></a:solidFill><a:latin typeface='Inter'/></a:rPr><a:t>Overcoming Real-World Retail Artifacts and Ensuring Sustainable Scale</a:t></a:r></a:p>
          </p:txBody>
        </p:sp>
        

        <p:sp>
          <p:nvSpPr><p:cNvPr id="41" name="Edge1"/><p:cNvSpPr/><p:nvPr/></p:nvSpPr>
          <p:spPr>
            <a:xfrm><a:off x="600000" y="1600000"/><a:ext cx="3500000" cy="1800000"/></a:xfrm>
            <a:prstGeom prst="rect"><a:avLst/></a:prstGeom>
            <a:solidFill><a:srgbClr val="081B16"/></a:solidFill>
            <a:ln w="12700"><a:solidFill><a:srgbClr val="1E4A3D"/></a:solidFill></a:ln>
          </p:spPr>
          <p:txBody>
            <a:bodyPr vert="horz" lIns="180000" tIns="140000" rIns="180000" bIns="140000" anchor="top"/>
            <a:lstStyle/>
            <a:p>
              <a:r>
                <a:rPr lang="en-US" sz="1000" b="1"><a:solidFill><a:srgbClr val="B8532F"/></a:solidFill><a:latin typeface="JetBrains Mono"/></a:rPr>
                <a:t>EDGE CASE 01: CURVED PACKAGING</a:t>
              </a:r>
            </a:p>
            <a:p>
              <a:pPr spaceBefore="40000"/>
              <a:r>
                <a:rPr lang="en-US" sz="1300" b="1"><a:solidFill><a:srgbClr val="F4F3EE"/></a:solidFill><a:latin typeface="Space Grotesk"/></a:rPr>
                <a:t>Cylindrical Can &amp; Bottle Warp</a:t>
              </a:r>
            </a:p>
            <a:p>
              <a:pPr spaceBefore="60000"/>
              <a:r>
                <a:rPr lang="en-US" sz="1050"><a:solidFill><a:srgbClr val="BAC5BF"/></a:solidFill><a:latin typeface="Inter"/></a:rPr>
                <a:t>Distortion along curved surfaces causes standard OCR to fragment text. Solved via dynamic cylindrical unrolling algorithms and multi-angle composite stitching.</a:t>
              </a:r>
            </a:p>
          </p:txBody>
        </p:sp>
        

        <p:sp>
          <p:nvSpPr><p:cNvPr id="42" name="Edge2"/><p:cNvSpPr/><p:nvPr/></p:nvSpPr>
          <p:spPr>
            <a:xfrm><a:off x="4350000" y="1600000"/><a:ext cx="3500000" cy="1800000"/></a:xfrm>
            <a:prstGeom prst="rect"><a:avLst/></a:prstGeom>
            <a:solidFill><a:srgbClr val="081B16"/></a:solidFill>
            <a:ln w="12700"><a:solidFill><a:srgbClr val="1E4A3D"/></a:solidFill></a:ln>
          </p:spPr>
          <p:txBody>
            <a:bodyPr vert="horz" lIns="180000" tIns="140000" rIns="180000" bIns="140000" anchor="top"/>
            <a:lstStyle/>
            <a:p>
              <a:r>
                <a:rPr lang="en-US" sz="1000" b="1"><a:solidFill><a:srgbClr val="D97706"/></a:solidFill><a:latin typeface="JetBrains Mono"/></a:rPr>
                <a:t>EDGE CASE 02: MULTILINGUAL LABELS</a:t>
              </a:r>
            </a:p>
            <a:p>
              <a:pPr spaceBefore="40000"/>
              <a:r>
                <a:rPr lang="en-US" sz="1300" b="1"><a:solidFill><a:srgbClr val="F4F3EE"/></a:solidFill><a:latin typeface="Space Grotesk"/></a:rPr>
                <a:t>Devanagari + Regional Scripts</a:t>
              </a:r>
            </a:p>
            <a:p>
              <a:pPr spaceBefore="60000"/>
              <a:r>
                <a:rPr lang="en-US" sz="1050"><a:solidFill><a:srgbClr val="BAC5BF"/></a:solidFill><a:latin typeface="Inter"/></a:rPr>
                <a:t>Indian FMCG labels frequently use dual-language declarations (Hindi/English). Solved via script-routing OCR and phonetic normalisation dictionaries.</a:t>
              </a:r>
            </a:p>
          </p:txBody>
        </p:sp>
        

        <p:sp>
          <p:nvSpPr><p:cNvPr id="43" name="Edge3"/><p:cNvSpPr/><p:nvPr/></p:nvSpPr>
          <p:spPr>
            <a:xfrm><a:off x="8100000" y="1600000"/><a:ext cx="3500000" cy="1800000"/></a:xfrm>
            <a:prstGeom prst="rect"><a:avLst/></a:prstGeom>
            <a:solidFill><a:srgbClr val="081B16"/></a:solidFill>
            <a:ln w="12700"><a:solidFill><a:srgbClr val="1E4A3D"/></a:solidFill></a:ln>
          </p:spPr>
          <p:txBody>
            <a:bodyPr vert="horz" lIns="180000" tIns="140000" rIns="180000" bIns="140000" anchor="top"/>
            <a:lstStyle/>
            <a:p>
              <a:r>
                <a:rPr lang="en-US" sz="1000" b="1"><a:solidFill><a:srgbClr val="10B981"/></a:solidFill><a:latin typeface="JetBrains Mono"/></a:rPr>
                <a:t>EDGE CASE 03: ZERO CONNECTIVITY</a:t>
              </a:r>
            </a:p>
            <a:p>
              <a:pPr spaceBefore="40000"/>
              <a:r>
                <a:rPr lang="en-US" sz="1300" b="1"><a:solidFill><a:srgbClr val="F4F3EE"/></a:solidFill><a:latin typeface="Space Grotesk"/></a:rPr>
                <a:t>Rural Kirana &amp; Offline Audits</a:t>
              </a:r>
            </a:p>
            <a:p>
              <a:pPr spaceBefore="60000"/>
              <a:r>
                <a:rPr lang="en-US" sz="1050"><a:solidFill><a:srgbClr val="BAC5BF"/></a:solidFill><a:latin typeface="Inter"/></a:rPr>
                <a:t>Weak indoor cellular reception in supermarkets or remote villages. Solved via bundled edge rule definitions (Dexie/SQLite) requiring 0 cloud bytes to audit.</a:t>
              </a:r>
            </a:p>
          </p:txBody>
        </p:sp>
        

        <p:sp>
          <p:nvSpPr><p:cNvPr id="44" name="LC1"/><p:cNvSpPr/><p:nvPr/></p:nvSpPr>
          <p:spPr>
            <a:xfrm><a:off x="600000" y="3600000"/><a:ext cx="2100000" cy="2650000"/></a:xfrm>
            <a:prstGeom prst="rect"><a:avLst/></a:prstGeom>
            <a:solidFill><a:srgbClr val="0F2D25"/></a:solidFill>
            <a:ln w="12700"><a:solidFill><a:srgbClr val="1E4A3D"/></a:solidFill></a:ln>
          </p:spPr>
          <p:txBody>
            <a:bodyPr vert="horz" lIns="140000" tIns="140000" rIns="140000" bIns="140000" anchor="top"/>
            <a:lstStyle/>
            <a:p>
              <a:r>
                <a:rPr lang="en-US" sz="1000" b="1"><a:solidFill><a:srgbClr val="DC2626"/></a:solidFill><a:latin typeface="JetBrains Mono"/></a:rPr>
                <a:t>PROBLEM</a:t>
              </a:r>
            </a:p>
            <a:p>
              <a:pPr spaceBefore="60000"/>
              <a:r>
                <a:rPr lang="en-US" sz="950"><a:solidFill><a:srgbClr val="BAC5BF"/></a:solidFill><a:latin typeface="Inter"/></a:rPr>
                <a:t>• Sub-millimeter dark pattern fine print.</a:t>
              </a:r>
            </a:p>
            <a:p>
              <a:pPr spaceBefore="40000"/>
              <a:r>
                <a:rPr lang="en-US" sz="950"><a:solidFill><a:srgbClr val="BAC5BF"/></a:solidFill><a:latin typeface="Inter"/></a:rPr>
                <a:t>• 84.2% statutory breach in retail FMCG.</a:t>
              </a:r>
            </a:p>
            <a:p>
              <a:pPr spaceBefore="40000"/>
              <a:r>
                <a:rPr lang="en-US" sz="950"><a:solidFill><a:srgbClr val="BAC5BF"/></a:solidFill><a:latin typeface="Inter"/></a:rPr>
                <a:t>• Lethal allergen cross-contamination risks.</a:t>
              </a:r>
            </a:p>
          </p:txBody>
        </p:sp>
        

        <p:sp>
          <p:nvSpPr><p:cNvPr id="45" name="LC2"/><p:cNvSpPr/><p:nvPr/></p:nvSpPr>
          <p:spPr>
            <a:xfrm><a:off x="2800000" y="3600000"/><a:ext cx="2100000" cy="2650000"/></a:xfrm>
            <a:prstGeom prst="rect"><a:avLst/></a:prstGeom>
            <a:solidFill><a:srgbClr val="0F2D25"/></a:solidFill>
            <a:ln w="12700"><a:solidFill><a:srgbClr val="1E4A3D"/></a:solidFill></a:ln>
          </p:spPr>
          <p:txBody>
            <a:bodyPr vert="horz" lIns="140000" tIns="140000" rIns="140000" bIns="140000" anchor="top"/>
            <a:lstStyle/>
            <a:p>
              <a:r>
                <a:rPr lang="en-US" sz="1000" b="1"><a:solidFill><a:srgbClr val="10B981"/></a:solidFill><a:latin typeface="JetBrains Mono"/></a:rPr>
                <a:t>SOLUTION</a:t>
              </a:r>
            </a:p>
            <a:p>
              <a:pPr spaceBefore="60000"/>
              <a:r>
                <a:rPr lang="en-US" sz="950"><a:solidFill><a:srgbClr val="BAC5BF"/></a:solidFill><a:latin typeface="Inter"/></a:rPr>
                <a:t>• Dual-rule edge OCR engine (Rule 6 + FSSAI).</a:t>
              </a:r>
            </a:p>
            <a:p>
              <a:pPr spaceBefore="40000"/>
              <a:r>
                <a:rPr lang="en-US" sz="950"><a:solidFill><a:srgbClr val="BAC5BF"/></a:solidFill><a:latin typeface="Inter"/></a:rPr>
                <a:t>• Dynamic Rule 9 letter-height calibration.</a:t>
              </a:r>
            </a:p>
            <a:p>
              <a:pPr spaceBefore="40000"/>
              <a:r>
                <a:rPr lang="en-US" sz="950"><a:solidFill><a:srgbClr val="BAC5BF"/></a:solidFill><a:latin typeface="Inter"/></a:rPr>
                <a:t>• Automated Section 36 penalty notice generation.</a:t>
              </a:r>
            </a:p>
          </p:txBody>
        </p:sp>
        

        <p:sp>
          <p:nvSpPr><p:cNvPr id="46" name="LC3"/><p:cNvSpPr/><p:nvPr/></p:nvSpPr>
          <p:spPr>
            <a:xfrm><a:off x="5000000" y="3600000"/><a:ext cx="2100000" cy="2650000"/></a:xfrm>
            <a:prstGeom prst="rect"><a:avLst/></a:prstGeom>
            <a:solidFill><a:srgbClr val="0F2D25"/></a:solidFill>
            <a:ln w="12700"><a:solidFill><a:srgbClr val="1E4A3D"/></a:solidFill></a:ln>
          </p:spPr>
          <p:txBody>
            <a:bodyPr vert="horz" lIns="140000" tIns="140000" rIns="140000" bIns="140000" anchor="top"/>
            <a:lstStyle/>
            <a:p>
              <a:r>
                <a:rPr lang="en-US" sz="1000" b="1"><a:solidFill><a:srgbClr val="34D399"/></a:solidFill><a:latin typeface="JetBrains Mono"/></a:rPr>
                <a:t>KEY METRICS</a:t>
              </a:r>
            </a:p>
            <a:p>
              <a:pPr spaceBefore="60000"/>
              <a:r>
                <a:rPr lang="en-US" sz="950"><a:solidFill><a:srgbClr val="BAC5BF"/></a:solidFill><a:latin typeface="Inter"/></a:rPr>
                <a:t>• &lt; 2.8s total audit scan turnaround.</a:t>
              </a:r>
            </a:p>
            <a:p>
              <a:pPr spaceBefore="40000"/>
              <a:r>
                <a:rPr lang="en-US" sz="950"><a:solidFill><a:srgbClr val="BAC5BF"/></a:solidFill><a:latin typeface="Inter"/></a:rPr>
                <a:t>• 96.4% mandatory declaration recall.</a:t>
              </a:r>
            </a:p>
            <a:p>
              <a:pPr spaceBefore="40000"/>
              <a:r>
                <a:rPr lang="en-US" sz="950"><a:solidFill><a:srgbClr val="BAC5BF"/></a:solidFill><a:latin typeface="Inter"/></a:rPr>
                <a:t>• 100% offline operational capability.</a:t>
              </a:r>
            </a:p>
          </p:txBody>
        </p:sp>
        

        <p:sp>
          <p:nvSpPr><p:cNvPr id="47" name="LC4"/><p:cNvSpPr/><p:nvPr/></p:nvSpPr>
          <p:spPr>
            <a:xfrm><a:off x="7200000" y="3600000"/><a:ext cx="2100000" cy="2650000"/></a:xfrm>
            <a:prstGeom prst="rect"><a:avLst/></a:prstGeom>
            <a:solidFill><a:srgbClr val="0F2D25"/></a:solidFill>
            <a:ln w="12700"><a:solidFill><a:srgbClr val="1E4A3D"/></a:solidFill></a:ln>
          </p:spPr>
          <p:txBody>
            <a:bodyPr vert="horz" lIns="140000" tIns="140000" rIns="140000" bIns="140000" anchor="top"/>
            <a:lstStyle/>
            <a:p>
              <a:r>
                <a:rPr lang="en-US" sz="1000" b="1"><a:solidFill><a:srgbClr val="D97706"/></a:solidFill><a:latin typeface="JetBrains Mono"/></a:rPr>
                <a:t>COST STRUCTURE</a:t>
              </a:r>
            </a:p>
            <a:p>
              <a:pPr spaceBefore="60000"/>
              <a:r>
                <a:rPr lang="en-US" sz="950"><a:solidFill><a:srgbClr val="BAC5BF"/></a:solidFill><a:latin typeface="Inter"/></a:rPr>
                <a:t>• Zero specialized optical hardware costs.</a:t>
              </a:r>
            </a:p>
            <a:p>
              <a:pPr spaceBefore="40000"/>
              <a:r>
                <a:rPr lang="en-US" sz="950"><a:solidFill><a:srgbClr val="BAC5BF"/></a:solidFill><a:latin typeface="Inter"/></a:rPr>
                <a:t>• Client-side compute eliminates API bills.</a:t>
              </a:r>
            </a:p>
            <a:p>
              <a:pPr spaceBefore="40000"/>
              <a:r>
                <a:rPr lang="en-US" sz="950"><a:solidFill><a:srgbClr val="BAC5BF"/></a:solidFill><a:latin typeface="Inter"/></a:rPr>
                <a:t>• Free tier for public consumer protection.</a:t>
              </a:r>
            </a:p>
          </p:txBody>
        </p:sp>
        

        <p:sp>
          <p:nvSpPr><p:cNvPr id="48" name="LC5"/><p:cNvSpPr/><p:nvPr/></p:nvSpPr>
          <p:spPr>
            <a:xfrm><a:off x="9400000" y="3600000"/><a:ext cx="2200000" cy="2650000"/></a:xfrm>
            <a:prstGeom prst="rect"><a:avLst/></a:prstGeom>
            <a:solidFill><a:srgbClr val="0F2D25"/></a:solidFill>
            <a:ln w="12700"><a:solidFill><a:srgbClr val="1E4A3D"/></a:solidFill></a:ln>
          </p:spPr>
          <p:txBody>
            <a:bodyPr vert="horz" lIns="140000" tIns="140000" rIns="140000" bIns="140000" anchor="top"/>
            <a:lstStyle/>
            <a:p>
              <a:r>
                <a:rPr lang="en-US" sz="1000" b="1"><a:solidFill><a:srgbClr val="B8532F"/></a:solidFill><a:latin typeface="JetBrains Mono"/></a:rPr>
                <a:t>UNFAIR ADVANTAGE</a:t>
              </a:r>
            </a:p>
            <a:p>
              <a:pPr spaceBefore="60000"/>
              <a:r>
                <a:rPr lang="en-US" sz="950"><a:solidFill><a:srgbClr val="BAC5BF"/></a:solidFill><a:latin typeface="Inter"/></a:rPr>
                <a:t>• Dual legal + medical framework synergy.</a:t>
              </a:r>
            </a:p>
            <a:p>
              <a:pPr spaceBefore="40000"/>
              <a:r>
                <a:rPr lang="en-US" sz="950"><a:solidFill><a:srgbClr val="BAC5BF"/></a:solidFill><a:latin typeface="Inter"/></a:rPr>
                <a:t>• Direct Section 36 legal notice synthesis.</a:t>
              </a:r>
            </a:p>
            <a:p>
              <a:pPr spaceBefore="40000"/>
              <a:r>
                <a:rPr lang="en-US" sz="950"><a:solidFill><a:srgbClr val="BAC5BF"/></a:solidFill><a:latin typeface="Inter"/></a:rPr>
                <a:t>• Built specifically for Indian retail ecosystem.</a:t>
              </a:r>
            </a:p>
          </p:txBody>
        </p:sp>
        

        <!-- Footer -->
        <p:sp>
          <p:nvSpPr><p:cNvPr id="999" name="Footer"/><p:cNvSpPr/><p:nvPr/></p:nvSpPr>
          <p:spPr>
            <a:xfrm><a:off x="600000" y="6400000"/><a:ext cx="10992000" cy="220000"/></a:xfrm>
            <a:prstGeom prst="rect"><a:avLst/></a:prstGeom>
            <a:noFill/>
          </p:spPr>
          <p:txBody>
            <a:bodyPr vert="horz" lIns="0" tIns="0" rIns="0" bIns="0" anchor="ctr"/>
            <a:lstStyle/>
            <a:p>
              <a:r>
                <a:rPr lang="en-US" sz="950">
                  <a:solidFill><a:srgbClr val="758A82"/></a:solidFill>
                  <a:latin typeface="JetBrains Mono"/>
                </a:rPr>
                <a:t>SMART INDIA HACKATHON 2026  •  PROBLEM STATEMENT: SIH26034  •  MINISTRY OF CONSUMER AFFAIRS &amp; FSSAI</a:t>
              </a:r>
              <a:r>
                <a:rPr lang="en-US" sz="950" b="1">
                  <a:solidFill><a:srgbClr val="10B981"/></a:solidFill>
                  <a:latin typeface="JetBrains Mono"/>
                </a:rPr>
                <a:t>          [ SLIDE 04 / 06 ]</a:t>
              </a:r>
            </a:p>
          </p:txBody>
        </p:sp>
        
    </p:spTree>
  </p:cSld>
</p:sld>
</file>

<file path=ppt/slides/slide5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1" name=""/><p:cNvGrpSpPr/><p:nvPr/></p:nvSpPr>
      <p:grpSpPr><a:xfrm><a:off x="0" y="0"/><a:ext cx="0" cy="0"/><a:chOff x="0" y="0"/><a:chExt cx="0" cy="0"/></a:xfrm></p:grpSpPr>
      
        <!-- Header Badge -->
        <p:sp>
          <p:nvSpPr><p:cNvPr id="101" name="Badge"/><p:cNvSpPr/><p:nvPr/></p:nvSpPr>
          <p:spPr>
            <a:xfrm><a:off x="600000" y="400000"/><a:ext cx="10992000" cy="300000"/></a:xfrm>
            <a:prstGeom prst="rect"><a:avLst/></a:prstGeom>
            <a:solidFill><a:srgbClr val="0F2D25"/></a:solidFill>
            <a:ln w="9525"><a:solidFill><a:srgbClr val="1E4A3D"/></a:solidFill></a:ln>
          </p:spPr>
          <p:txBody>
            <a:bodyPr vert="horz" lIns="100000" tIns="40000" rIns="100000" bIns="40000" anchor="ctr"/>
            <a:lstStyle/>
            <a:p>
              <a:r>
                <a:rPr lang="en-US" sz="1050" b="1">
                  <a:solidFill><a:srgbClr val="10B981"/></a:solidFill>
                  <a:latin typeface="JetBrains Mono"/>
                </a:rPr>
                <a:t>• SIH26034  •  SOCIETAL, HEALTH & ECONOMIC IMPACT</a:t>
              </a:r>
              <a:r>
                <a:rPr lang="en-US" sz="1050">
                  <a:solidFill><a:srgbClr val="758A82"/></a:solidFill>
                  <a:latin typeface="JetBrains Mono"/>
                </a:rPr>
                <a:t>  |  PACKSCAN REGULATORY ENGINE  |  OFFICIAL SIH DECK</a:t>
              </a:r>
            </a:p>
          </p:txBody>
        </p:sp>

        <!-- Slide Title -->
        <p:sp>
          <p:nvSpPr><p:cNvPr id="102" name="Title"/><p:cNvSpPr/><p:nvPr/></p:nvSpPr>
          <p:spPr>
            <a:xfrm><a:off x="600000" y="760000"/><a:ext cx="10992000" cy="650000"/></a:xfrm>
            <a:prstGeom prst="rect"><a:avLst/></a:prstGeom>
            <a:noFill/>
          </p:spPr>
          <p:txBody>
            <a:bodyPr vert="horz" lIns="0" tIns="0" rIns="0" bIns="0" anchor="top"/>
            <a:lstStyle/>
            <a:p>
              <a:r>
                <a:rPr lang="en-US" sz="2200" b="1">
                  <a:solidFill><a:srgbClr val="F4F3EE"/></a:solidFill>
                  <a:latin typeface="Space Grotesk"/>
                </a:rPr>
                <a:t>Public Health Defense, Cross-Border Benchmarking & Revenue Recovery</a:t>
              </a:r>
            </a:p>
            <a:p><a:r><a:rPr lang='en-US' sz='1150' i='1'><a:solidFill><a:srgbClr val='BAC5BF'/></a:solidFill><a:latin typeface='Inter'/></a:rPr><a:t>Quantifiable Dividends for 1.4 Billion Consumers and Government Enforcement Bodies</a:t></a:r></a:p>
          </p:txBody>
        </p:sp>
        

        <p:sp>
          <p:nvSpPr><p:cNvPr id="51" name="Impact1"/><p:cNvSpPr/><p:nvPr/></p:nvSpPr>
          <p:spPr>
            <a:xfrm><a:off x="600000" y="1600000"/><a:ext cx="3500000" cy="4600000"/></a:xfrm>
            <a:prstGeom prst="rect"><a:avLst/></a:prstGeom>
            <a:solidFill><a:srgbClr val="081B16"/></a:solidFill>
            <a:ln w="15875"><a:solidFill><a:srgbClr val="10B981"/></a:solidFill></a:ln>
          </p:spPr>
          <p:txBody>
            <a:bodyPr vert="horz" lIns="200000" tIns="200000" rIns="200000" bIns="200000" anchor="top"/>
            <a:lstStyle/>
            <a:p>
              <a:r>
                <a:rPr lang="en-US" sz="1050" b="1"><a:solidFill><a:srgbClr val="10B981"/></a:solidFill><a:latin typeface="JetBrains Mono"/></a:rPr>
                <a:t>IMPACT SECTOR 01</a:t>
              </a:r>
            </a:p>
            <a:p>
              <a:pPr spaceBefore="60000"/>
              <a:r>
                <a:rPr lang="en-US" sz="1600" b="1"><a:solidFill><a:srgbClr val="F4F3EE"/></a:solidFill><a:latin typeface="Space Grotesk"/></a:rPr>
                <a:t>Preventive NCD Defense</a:t>
              </a:r>
            </a:p>
            <a:p>
              <a:pPr spaceBefore="120000"/>
              <a:r>
                <a:rPr lang="en-US" sz="3000" b="1"><a:solidFill><a:srgbClr val="34D399"/></a:solidFill><a:latin typeface="Space Grotesk"/></a:rPr>
                <a:t>101M+</a:t>
              </a:r>
            </a:p>
            <a:p>
              <a:r>
                <a:rPr lang="en-US" sz="1050" b="1"><a:solidFill><a:srgbClr val="758A82"/></a:solidFill><a:latin typeface="JetBrains Mono"/></a:rPr>
                <a:t>Diabetic Citizens Protected (ICMR)</a:t>
              </a:r>
            </a:p>
            <a:p>
              <a:pPr spaceBefore="140000"/>
              <a:r>
                <a:rPr lang="en-US" sz="1100"><a:solidFill><a:srgbClr val="BAC5BF"/></a:solidFill><a:latin typeface="Inter"/></a:rPr>
                <a:t>• Unmasks hidden glycemic loads (maltodextrin, high-fructose corn syrup) concealed under fine print.</a:t>
              </a:r>
            </a:p>
            <a:p>
              <a:pPr spaceBefore="80000"/>
              <a:r>
                <a:rPr lang="en-US" sz="1100"><a:solidFill><a:srgbClr val="BAC5BF"/></a:solidFill><a:latin typeface="Inter"/></a:rPr>
                <a:t>• Protects 315M+ hypertensive Indians by flagging sodium in excess of 600mg per 100g serving.</a:t>
              </a:r>
            </a:p>
            <a:p>
              <a:pPr spaceBefore="80000"/>
              <a:r>
                <a:rPr lang="en-US" sz="1100"><a:solidFill><a:srgbClr val="BAC5BF"/></a:solidFill><a:latin typeface="Inter"/></a:rPr>
                <a:t>• Eliminates accidental emergency room anaphylaxis across 8 major allergen classes.</a:t>
              </a:r>
            </a:p>
          </p:txBody>
        </p:sp>
        

        <p:sp>
          <p:nvSpPr><p:cNvPr id="52" name="Impact2"/><p:cNvSpPr/><p:nvPr/></p:nvSpPr>
          <p:spPr>
            <a:xfrm><a:off x="4350000" y="1600000"/><a:ext cx="3500000" cy="4600000"/></a:xfrm>
            <a:prstGeom prst="rect"><a:avLst/></a:prstGeom>
            <a:solidFill><a:srgbClr val="081B16"/></a:solidFill>
            <a:ln w="15875"><a:solidFill><a:srgbClr val="D97706"/></a:solidFill></a:ln>
          </p:spPr>
          <p:txBody>
            <a:bodyPr vert="horz" lIns="200000" tIns="200000" rIns="200000" bIns="200000" anchor="top"/>
            <a:lstStyle/>
            <a:p>
              <a:r>
                <a:rPr lang="en-US" sz="1050" b="1"><a:solidFill><a:srgbClr val="D97706"/></a:solidFill><a:latin typeface="JetBrains Mono"/></a:rPr>
                <a:t>IMPACT SECTOR 02</a:t>
              </a:r>
            </a:p>
            <a:p>
              <a:pPr spaceBefore="60000"/>
              <a:r>
                <a:rPr lang="en-US" sz="1600" b="1"><a:solidFill><a:srgbClr val="F4F3EE"/></a:solidFill><a:latin typeface="Space Grotesk"/></a:rPr>
                <a:t>Cross-Border Harmonization</a:t>
              </a:r>
            </a:p>
            <a:p>
              <a:pPr spaceBefore="120000"/>
              <a:r>
                <a:rPr lang="en-US" sz="3000" b="1"><a:solidFill><a:srgbClr val="D97706"/></a:solidFill><a:latin typeface="Space Grotesk"/></a:rPr>
                <a:t>140+</a:t>
              </a:r>
            </a:p>
            <a:p>
              <a:r>
                <a:rPr lang="en-US" sz="1050" b="1"><a:solidFill><a:srgbClr val="758A82"/></a:solidFill><a:latin typeface="JetBrains Mono"/></a:rPr>
                <a:t>Global Additive Directives Monitored</a:t>
              </a:r>
            </a:p>
            <a:p>
              <a:pPr spaceBefore="140000"/>
              <a:r>
                <a:rPr lang="en-US" sz="1100"><a:solidFill><a:srgbClr val="BAC5BF"/></a:solidFill><a:latin typeface="Inter"/></a:rPr>
                <a:t>• E171 Titanium Dioxide: Banned by EFSA (EU Reg 2022/63) for genotoxicity, yet still present in Indian confectionary.</a:t>
              </a:r>
            </a:p>
            <a:p>
              <a:pPr spaceBefore="80000"/>
              <a:r>
                <a:rPr lang="en-US" sz="1100"><a:solidFill><a:srgbClr val="BAC5BF"/></a:solidFill><a:latin typeface="Inter"/></a:rPr>
                <a:t>• Tartrazine (E102) &amp; Sunset Yellow (E110): Flags UK Southampton warning ('may have adverse effect on activity in children').</a:t>
              </a:r>
            </a:p>
            <a:p>
              <a:pPr spaceBefore="80000"/>
              <a:r>
                <a:rPr lang="en-US" sz="1100"><a:solidFill><a:srgbClr val="BAC5BF"/></a:solidFill><a:latin typeface="Inter"/></a:rPr>
                <a:t>• Closes regulatory arbitrage exploited by multinational conglomerates in emerging markets.</a:t>
              </a:r>
            </a:p>
          </p:txBody>
        </p:sp>
        

        <p:sp>
          <p:nvSpPr><p:cNvPr id="53" name="Impact3"/><p:cNvSpPr/><p:nvPr/></p:nvSpPr>
          <p:spPr>
            <a:xfrm><a:off x="8100000" y="1600000"/><a:ext cx="3500000" cy="4600000"/></a:xfrm>
            <a:prstGeom prst="rect"><a:avLst/></a:prstGeom>
            <a:solidFill><a:srgbClr val="081B16"/></a:solidFill>
            <a:ln w="15875"><a:solidFill><a:srgbClr val="B8532F"/></a:solidFill></a:ln>
          </p:spPr>
          <p:txBody>
            <a:bodyPr vert="horz" lIns="200000" tIns="200000" rIns="200000" bIns="200000" anchor="top"/>
            <a:lstStyle/>
            <a:p>
              <a:r>
                <a:rPr lang="en-US" sz="1050" b="1"><a:solidFill><a:srgbClr val="B8532F"/></a:solidFill><a:latin typeface="JetBrains Mono"/></a:rPr>
                <a:t>IMPACT SECTOR 03</a:t>
              </a:r>
            </a:p>
            <a:p>
              <a:pPr spaceBefore="60000"/>
              <a:r>
                <a:rPr lang="en-US" sz="1600" b="1"><a:solidFill><a:srgbClr val="F4F3EE"/></a:solidFill><a:latin typeface="Space Grotesk"/></a:rPr>
                <a:t>Statutory Revenue Recovery</a:t>
              </a:r>
            </a:p>
            <a:p>
              <a:pPr spaceBefore="120000"/>
              <a:r>
                <a:rPr lang="en-US" sz="3000" b="1"><a:solidFill><a:srgbClr val="B8532F"/></a:solidFill><a:latin typeface="Space Grotesk"/></a:rPr>
                <a:t>₹50,000</a:t>
              </a:r>
            </a:p>
            <a:p>
              <a:r>
                <a:rPr lang="en-US" sz="1050" b="1"><a:solidFill><a:srgbClr val="758A82"/></a:solidFill><a:latin typeface="JetBrains Mono"/></a:rPr>
                <a:t>Section 36 Compounding Fine per Violation</a:t>
              </a:r>
            </a:p>
            <a:p>
              <a:pPr spaceBefore="140000"/>
              <a:r>
                <a:rPr lang="en-US" sz="1100"><a:solidFill><a:srgbClr val="BAC5BF"/></a:solidFill><a:latin typeface="Inter"/></a:rPr>
                <a:t>• Empowers 5,000+ Legal Metrology Inspectors across India with 10x faster inspection turnaround.</a:t>
              </a:r>
            </a:p>
            <a:p>
              <a:pPr spaceBefore="80000"/>
              <a:r>
                <a:rPr lang="en-US" sz="1100"><a:solidFill><a:srgbClr val="BAC5BF"/></a:solidFill><a:latin typeface="Inter"/></a:rPr>
                <a:t>• Eliminates evidentiary dismissal in consumer courts via tamper-evident cryptographic image hashes.</a:t>
              </a:r>
            </a:p>
            <a:p>
              <a:pPr spaceBefore="80000"/>
              <a:r>
                <a:rPr lang="en-US" sz="1100"><a:solidFill><a:srgbClr val="BAC5BF"/></a:solidFill><a:latin typeface="Inter"/></a:rPr>
                <a:t>• Establishes transparent accountability across large-scale retail supermarket chains.</a:t>
              </a:r>
            </a:p>
          </p:txBody>
        </p:sp>
        

        <!-- Footer -->
        <p:sp>
          <p:nvSpPr><p:cNvPr id="999" name="Footer"/><p:cNvSpPr/><p:nvPr/></p:nvSpPr>
          <p:spPr>
            <a:xfrm><a:off x="600000" y="6400000"/><a:ext cx="10992000" cy="220000"/></a:xfrm>
            <a:prstGeom prst="rect"><a:avLst/></a:prstGeom>
            <a:noFill/>
          </p:spPr>
          <p:txBody>
            <a:bodyPr vert="horz" lIns="0" tIns="0" rIns="0" bIns="0" anchor="ctr"/>
            <a:lstStyle/>
            <a:p>
              <a:r>
                <a:rPr lang="en-US" sz="950">
                  <a:solidFill><a:srgbClr val="758A82"/></a:solidFill>
                  <a:latin typeface="JetBrains Mono"/>
                </a:rPr>
                <a:t>SMART INDIA HACKATHON 2026  •  PROBLEM STATEMENT: SIH26034  •  MINISTRY OF CONSUMER AFFAIRS &amp; FSSAI</a:t>
              </a:r>
              <a:r>
                <a:rPr lang="en-US" sz="950" b="1">
                  <a:solidFill><a:srgbClr val="10B981"/></a:solidFill>
                  <a:latin typeface="JetBrains Mono"/>
                </a:rPr>
                <a:t>          [ SLIDE 05 / 06 ]</a:t>
              </a:r>
            </a:p>
          </p:txBody>
        </p:sp>
        
    </p:spTree>
  </p:cSld>
</p:sld>
</file>

<file path=ppt/slides/slide6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nvGrpSpPr><p:cNvPr id="1" name=""/><p:cNvGrpSpPr/><p:nvPr/></p:nvSpPr>
      <p:grpSpPr><a:xfrm><a:off x="0" y="0"/><a:ext cx="0" cy="0"/><a:chOff x="0" y="0"/><a:chExt cx="0" cy="0"/></a:xfrm></p:grpSpPr>
      
        <!-- Header Badge -->
        <p:sp>
          <p:nvSpPr><p:cNvPr id="101" name="Badge"/><p:cNvSpPr/><p:nvPr/></p:nvSpPr>
          <p:spPr>
            <a:xfrm><a:off x="600000" y="400000"/><a:ext cx="10992000" cy="300000"/></a:xfrm>
            <a:prstGeom prst="rect"><a:avLst/></a:prstGeom>
            <a:solidFill><a:srgbClr val="0F2D25"/></a:solidFill>
            <a:ln w="9525"><a:solidFill><a:srgbClr val="1E4A3D"/></a:solidFill></a:ln>
          </p:spPr>
          <p:txBody>
            <a:bodyPr vert="horz" lIns="100000" tIns="40000" rIns="100000" bIns="40000" anchor="ctr"/>
            <a:lstStyle/>
            <a:p>
              <a:r>
                <a:rPr lang="en-US" sz="1050" b="1">
                  <a:solidFill><a:srgbClr val="10B981"/></a:solidFill>
                  <a:latin typeface="JetBrains Mono"/>
                </a:rPr>
                <a:t>• SIH26034  •  STATUTORY BIBLIOGRAPHY & SCIENTIFIC CITATIONS</a:t>
              </a:r>
              <a:r>
                <a:rPr lang="en-US" sz="1050">
                  <a:solidFill><a:srgbClr val="758A82"/></a:solidFill>
                  <a:latin typeface="JetBrains Mono"/>
                </a:rPr>
                <a:t>  |  PACKSCAN REGULATORY ENGINE  |  OFFICIAL SIH DECK</a:t>
              </a:r>
            </a:p>
          </p:txBody>
        </p:sp>

        <!-- Slide Title -->
        <p:sp>
          <p:nvSpPr><p:cNvPr id="102" name="Title"/><p:cNvSpPr/><p:nvPr/></p:nvSpPr>
          <p:spPr>
            <a:xfrm><a:off x="600000" y="760000"/><a:ext cx="10992000" cy="650000"/></a:xfrm>
            <a:prstGeom prst="rect"><a:avLst/></a:prstGeom>
            <a:noFill/>
          </p:spPr>
          <p:txBody>
            <a:bodyPr vert="horz" lIns="0" tIns="0" rIns="0" bIns="0" anchor="top"/>
            <a:lstStyle/>
            <a:p>
              <a:r>
                <a:rPr lang="en-US" sz="2200" b="1">
                  <a:solidFill><a:srgbClr val="F4F3EE"/></a:solidFill>
                  <a:latin typeface="Space Grotesk"/>
                </a:rPr>
                <a:t>Authentic Legal Acts, Government Gazettes & Peer-Reviewed Evidence</a:t>
              </a:r>
            </a:p>
            <a:p><a:r><a:rPr lang='en-US' sz='1150' i='1'><a:solidFill><a:srgbClr val='BAC5BF'/></a:solidFill><a:latin typeface='Inter'/></a:rPr><a:t>A Rigorous Research Foundation Grounded in Published Law and Clinical Nutritional Science</a:t></a:r></a:p>
          </p:txBody>
        </p:sp>
        

        <p:sp>
          <p:nvSpPr><p:cNvPr id="61" name="BibLegal"/><p:cNvSpPr/><p:nvPr/></p:nvSpPr>
          <p:spPr>
            <a:xfrm><a:off x="600000" y="1600000"/><a:ext cx="5350000" cy="4600000"/></a:xfrm>
            <a:prstGeom prst="rect"><a:avLst/></a:prstGeom>
            <a:solidFill><a:srgbClr val="081B16"/></a:solidFill>
            <a:ln w="12700"><a:solidFill><a:srgbClr val="1E4A3D"/></a:solidFill></a:ln>
          </p:spPr>
          <p:txBody>
            <a:bodyPr vert="horz" lIns="220000" tIns="180000" rIns="220000" bIns="180000" anchor="top"/>
            <a:lstStyle/>
            <a:p>
              <a:r>
                <a:rPr lang="en-US" sz="1050" b="1"><a:solidFill><a:srgbClr val="10B981"/></a:solidFill><a:latin typeface="JetBrains Mono"/></a:rPr>
                <a:t>STATUTORY LEGAL ACTS &amp; GAZETTES</a:t>
              </a:r>
            </a:p>
            <a:p>
              <a:pPr spaceBefore="60000"/>
              <a:r>
                <a:rPr lang="en-US" sz="1400" b="1"><a:solidFill><a:srgbClr val="F4F3EE"/></a:solidFill><a:latin typeface="Space Grotesk"/></a:rPr>
                <a:t>Government of India Regulatory Framework</a:t>
              </a:r>
            </a:p>

            <a:p>
              <a:pPr spaceBefore="100000"/>
              <a:r>
                <a:rPr lang="en-US" sz="1050" b="1"><a:solidFill><a:srgbClr val="34D399"/></a:solidFill><a:latin typeface="JetBrains Mono"/></a:rPr>
                <a:t>[1] Legal Metrology Act, 2009 (Act No. 1 of 2010)</a:t>
              </a:r>
            </a:p>
            <a:p>
              <a:r>
                <a:rPr lang="en-US" sz="1000"><a:solidFill><a:srgbClr val="BAC5BF"/></a:solidFill><a:latin typeface="Inter"/></a:rPr>
                <a:t>Section 36(1) &amp; (2): Penalty for selling non-standard packages and compounding penalties up to ₹50,000 for recurring non-compliance.</a:t>
              </a:r>
            </a:p>

            <a:p>
              <a:pPr spaceBefore="80000"/>
              <a:r>
                <a:rPr lang="en-US" sz="1050" b="1"><a:solidFill><a:srgbClr val="34D399"/></a:solidFill><a:latin typeface="JetBrains Mono"/></a:rPr>
                <a:t>[2] Legal Metrology (Packaged Commodities) Rules, 2011</a:t>
              </a:r>
            </a:p>
            <a:p>
              <a:r>
                <a:rPr lang="en-US" sz="1000"><a:solidFill><a:srgbClr val="BAC5BF"/></a:solidFill><a:latin typeface="Inter"/></a:rPr>
                <a:t>Rule 6 (Mandatory declarations: MRP, Net Qty, Mfg date, Consumer Care) &amp; Rule 9 (Table I &amp; II: Minimum numeral &amp; letter print heights).</a:t>
              </a:r>
            </a:p>

            <a:p>
              <a:pPr spaceBefore="80000"/>
              <a:r>
                <a:rPr lang="en-US" sz="1050" b="1"><a:solidFill><a:srgbClr val="34D399"/></a:solidFill><a:latin typeface="JetBrains Mono"/></a:rPr>
                <a:t>[3] FSSAI (Labelling and Display) Regulations, 2020</a:t>
              </a:r>
            </a:p>
            <a:p>
              <a:r>
                <a:rPr lang="en-US" sz="1000"><a:solidFill><a:srgbClr val="BAC5BF"/></a:solidFill><a:latin typeface="Inter"/></a:rPr>
                <a:t>F. No. 1-94/FSSAI/SP(L&amp;C)/2017: Nutritional information per 100g/serving, % RDA contribution, and mandatory 8 major allergen declarations.</a:t>
              </a:r>
            </a:p>

            <a:p>
              <a:pPr spaceBefore="80000"/>
              <a:r>
                <a:rPr lang="en-US" sz="1050" b="1"><a:solidFill><a:srgbClr val="34D399"/></a:solidFill><a:latin typeface="JetBrains Mono"/></a:rPr>
                <a:t>[4] Consumer Protection Act, 2019 (Act No. 35 of 2019)</a:t>
              </a:r>
            </a:p>
            <a:p>
              <a:r>
                <a:rPr lang="en-US" sz="1000"><a:solidFill><a:srgbClr val="BAC5BF"/></a:solidFill><a:latin typeface="Inter"/></a:rPr>
                <a:t>Section 2(28) &amp; Section 89: Prosecution against misleading advertisements and deliberate concealment of material facts on consumer packaging.</a:t>
              </a:r>
            </a:p>

            <a:p>
              <a:pPr spaceBefore="80000"/>
              <a:r>
                <a:rPr lang="en-US" sz="1050" b="1"><a:solidFill><a:srgbClr val="34D399"/></a:solidFill><a:latin typeface="JetBrains Mono"/></a:rPr>
                <a:t>[5] CCPA Guidelines for Prevention of Dark Patterns, 2023</a:t>
              </a:r>
            </a:p>
            <a:p>
              <a:r>
                <a:rPr lang="en-US" sz="1000"><a:solidFill><a:srgbClr val="BAC5BF"/></a:solidFill><a:latin typeface="Inter"/></a:rPr>
                <a:t>Prohibits deceptive packaging architectures, disguised advertising, and obscured consumer grievance pathways.</a:t>
              </a:r>
            </a:p>
          </p:txBody>
        </p:sp>
        

        <p:sp>
          <p:nvSpPr><p:cNvPr id="62" name="BibScience"/><p:cNvSpPr/><p:nvPr/></p:nvSpPr>
          <p:spPr>
            <a:xfrm><a:off x="6250000" y="1600000"/><a:ext cx="5350000" cy="4600000"/></a:xfrm>
            <a:prstGeom prst="rect"><a:avLst/></a:prstGeom>
            <a:solidFill><a:srgbClr val="081B16"/></a:solidFill>
            <a:ln w="12700"><a:solidFill><a:srgbClr val="1E4A3D"/></a:solidFill></a:ln>
          </p:spPr>
          <p:txBody>
            <a:bodyPr vert="horz" lIns="220000" tIns="180000" rIns="220000" bIns="180000" anchor="top"/>
            <a:lstStyle/>
            <a:p>
              <a:r>
                <a:rPr lang="en-US" sz="1050" b="1"><a:solidFill><a:srgbClr val="D97706"/></a:solidFill><a:latin typeface="JetBrains Mono"/></a:rPr>
                <a:t>PEER-REVIEWED CLINICAL &amp; TECHNICAL PAPERS</a:t>
              </a:r>
            </a:p>
            <a:p>
              <a:pPr spaceBefore="60000"/>
              <a:r>
                <a:rPr lang="en-US" sz="1400" b="1"><a:solidFill><a:srgbClr val="F4F3EE"/></a:solidFill><a:latin typeface="Space Grotesk"/></a:rPr>
                <a:t>Published Medical &amp; Computer Vision Evidence</a:t>
              </a:r>
            </a:p>

            <a:p>
              <a:pPr spaceBefore="100000"/>
              <a:r>
                <a:rPr lang="en-US" sz="1050" b="1"><a:solidFill><a:srgbClr val="D97706"/></a:solidFill><a:latin typeface="JetBrains Mono"/></a:rPr>
                <a:t>[6] EFSA Panel on Food Additives (2021)</a:t>
              </a:r>
            </a:p>
            <a:p>
              <a:r>
                <a:rPr lang="en-US" sz="1000"><a:solidFill><a:srgbClr val="BAC5BF"/></a:solidFill><a:latin typeface="Inter"/></a:rPr>
                <a:t>"Safety assessment of titanium dioxide (E171) as a food additive." EFSA Journal, 19(5):6585. Proves genotoxicity and DNA strand breakage.</a:t>
              </a:r>
            </a:p>

            <a:p>
              <a:pPr spaceBefore="80000"/>
              <a:r>
                <a:rPr lang="en-US" sz="1050" b="1"><a:solidFill><a:srgbClr val="D97706"/></a:solidFill><a:latin typeface="JetBrains Mono"/></a:rPr>
                <a:t>[7] McCann, D., et al. (2007) - The Lancet</a:t>
              </a:r>
            </a:p>
            <a:p>
              <a:r>
                <a:rPr lang="en-US" sz="1000"><a:solidFill><a:srgbClr val="BAC5BF"/></a:solidFill><a:latin typeface="Inter"/></a:rPr>
                <a:t>"Food additives and hyperactive behaviour in children." The Lancet, 370(9598):1560-1567. Established clinical link between azo dyes (Tartrazine) &amp; ADHD.</a:t>
              </a:r>
            </a:p>

            <a:p>
              <a:pPr spaceBefore="80000"/>
              <a:r>
                <a:rPr lang="en-US" sz="1050" b="1"><a:solidFill><a:srgbClr val="D97706"/></a:solidFill><a:latin typeface="JetBrains Mono"/></a:rPr>
                <a:t>[8] ICMR-INDIAB National Study (2023)</a:t>
              </a:r>
            </a:p>
            <a:p>
              <a:r>
                <a:rPr lang="en-US" sz="1000"><a:solidFill><a:srgbClr val="BAC5BF"/></a:solidFill><a:latin typeface="Inter"/></a:rPr>
                <a:t>"Prevalence of diabetes and NCDs in India." Lancet Diabetes &amp; Endocrinology, 11(7):474-489. Documents 101M diabetics &amp; 136M pre-diabetics.</a:t>
              </a:r>
            </a:p>

            <a:p>
              <a:pPr spaceBefore="80000"/>
              <a:r>
                <a:rPr lang="en-US" sz="1050" b="1"><a:solidFill><a:srgbClr val="D97706"/></a:solidFill><a:latin typeface="JetBrains Mono"/></a:rPr>
                <a:t>[9] Popkin, B. M., et al. (2012)</a:t>
              </a:r>
            </a:p>
            <a:p>
              <a:r>
                <a:rPr lang="en-US" sz="1000"><a:solidFill><a:srgbClr val="BAC5BF"/></a:solidFill><a:latin typeface="Inter"/></a:rPr>
                <a:t>"Global nutrition transition and the pandemic of obesity in developing countries." Nutrition Reviews, 70(1):3-21. Connects ultra-processed foods to disease.</a:t>
              </a:r>
            </a:p>

            <a:p>
              <a:pPr spaceBefore="80000"/>
              <a:r>
                <a:rPr lang="en-US" sz="1050" b="1"><a:solidFill><a:srgbClr val="D97706"/></a:solidFill><a:latin typeface="JetBrains Mono"/></a:rPr>
                <a:t>[10] ISO/IEC 15415 &amp; 15416 International Standards</a:t>
              </a:r>
            </a:p>
            <a:p>
              <a:r>
                <a:rPr lang="en-US" sz="1000"><a:solidFill><a:srgbClr val="BAC5BF"/></a:solidFill><a:latin typeface="Inter"/></a:rPr>
                <a:t>Information technology — Automatic identification &amp; data capture: Barcode print quality test specification for packaging verification.</a:t>
              </a:r>
            </a:p>
          </p:txBody>
        </p:sp>
        

        <!-- Footer -->
        <p:sp>
          <p:nvSpPr><p:cNvPr id="999" name="Footer"/><p:cNvSpPr/><p:nvPr/></p:nvSpPr>
          <p:spPr>
            <a:xfrm><a:off x="600000" y="6400000"/><a:ext cx="10992000" cy="220000"/></a:xfrm>
            <a:prstGeom prst="rect"><a:avLst/></a:prstGeom>
            <a:noFill/>
          </p:spPr>
          <p:txBody>
            <a:bodyPr vert="horz" lIns="0" tIns="0" rIns="0" bIns="0" anchor="ctr"/>
            <a:lstStyle/>
            <a:p>
              <a:r>
                <a:rPr lang="en-US" sz="950">
                  <a:solidFill><a:srgbClr val="758A82"/></a:solidFill>
                  <a:latin typeface="JetBrains Mono"/>
                </a:rPr>
                <a:t>SMART INDIA HACKATHON 2026  •  PROBLEM STATEMENT: SIH26034  •  MINISTRY OF CONSUMER AFFAIRS &amp; FSSAI</a:t>
              </a:r>
              <a:r>
                <a:rPr lang="en-US" sz="950" b="1">
                  <a:solidFill><a:srgbClr val="10B981"/></a:solidFill>
                  <a:latin typeface="JetBrains Mono"/>
                </a:rPr>
                <a:t>          [ SLIDE 06 / 06 ]</a:t>
              </a:r>
            </a:p>
          </p:txBody>
        </p:sp>
        
    </p:spTree>
  </p:cSld>
</p:sld>
</file>

<file path=ppt/theme/theme1.xml><?xml version="1.0" encoding="utf-8"?>
<a:theme xmlns:a="http://schemas.openxmlformats.org/drawingml/2006/main" name="PackScan Obsidian Protocol">
  <a:themeElements>
    <a:clrScheme name="PackScan">
      <a:dk1>
        <a:srgbClr val="040D0A"/>
      </a:dk1>
      <a:lt1>
        <a:srgbClr val="F4F3EE"/>
      </a:lt1>
      <a:dk2>
        <a:srgbClr val="0F2D25"/>
      </a:dk2>
      <a:lt2>
        <a:srgbClr val="BAC5BF"/>
      </a:lt2>
      <a:accent1>
        <a:srgbClr val="10B981"/>
      </a:accent1>
      <a:accent2>
        <a:srgbClr val="D97706"/>
      </a:accent2>
      <a:accent3>
        <a:srgbClr val="DC2626"/>
      </a:accent3>
      <a:accent4>
        <a:srgbClr val="B8532F"/>
      </a:accent4>
      <a:accent5>
        <a:srgbClr val="34D399"/>
      </a:accent5>
      <a:accent6>
        <a:srgbClr val="FBBF24"/>
      </a:accent6>
      <a:hlink>
        <a:srgbClr val="10B981"/>
      </a:hlink>
      <a:folHlink>
        <a:srgbClr val="34D399"/>
      </a:folHlink>
    </a:clrScheme>
    <a:fontScheme name="PackScanFonts">
      <a:majorFont>
        <a:latin typeface="Space Grotesk"/>
      </a:majorFont>
      <a:minorFont>
        <a:latin typeface="Inter"/>
      </a:minorFont>
    </a:fontScheme>
    <a:fmtScheme name="PackScanFmt">
      <a:fillStyleLst>
        <a:solidFill>
          <a:srgbClr val="081B16"/>
        </a:solidFill>
      </a:fillStyleLst>
      <a:lnStyleLst>
        <a:ln w="12700">
          <a:solidFill>
            <a:srgbClr val="1E4A3D"/>
          </a:solidFill>
        </a:ln>
      </a:lnStyleLst>
      <a:effectStyleLst>
        <a:effectStyle>
          <a:effectLst/>
        </a:effectStyle>
      </a:effectStyleLst>
      <a:bgFillStyleLst>
        <a:solidFill>
          <a:srgbClr val="040D0A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0</TotalTime>
  <Words>1450</Words>
  <Application>Microsoft Macintosh PowerPoint</Application>
  <PresentationFormat>Widescreen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PackScan - Smart India Hackathon 2026 Executive Presentation</dc:title>
  <dc:subject>Problem Statement SIH26034: Packaging Compliance &amp; Consumer Safety</dc:subject>
  <dc:creator>PackScan Engineering Team</dc:creator>
  <cp:lastModifiedBy>PackScan Engineering Team</cp:lastModifiedBy>
</cp:coreProperties>
</file>